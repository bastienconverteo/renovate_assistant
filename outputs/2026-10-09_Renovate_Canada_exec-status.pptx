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b" ContentType="application/vnd.ms-excel.sheet.binary.macroEnabled.12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4.xml" ContentType="application/vnd.openxmlformats-officedocument.presentationml.slide+xml"/>
  <Override PartName="/ppt/slides/slide19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6.xml" ContentType="application/vnd.openxmlformats-officedocument.presentationml.slideLayout+xml"/>
  <Override PartName="/ppt/theme/theme4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32"/>
  </p:notesMasterIdLst>
  <p:sldIdLst>
    <p:sldId id="271" r:id="rId29"/>
    <p:sldId id="311" r:id="rId20"/>
    <p:sldId id="268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3908170-EDBF-4DFD-94FA-F7BCCA64397F}">
          <p14:sldIdLst/>
        </p14:section>
        <p14:section name="DATA ACQUISITION" id="{30CD90E4-C8EE-4146-AAA8-A89DE306E4B2}">
          <p14:sldIdLst/>
        </p14:section>
        <p14:section name="DATA ACTIVATION" id="{4B36C2A7-8459-4DD5-9CFE-8B946871AE76}">
          <p14:sldIdLst/>
        </p14:section>
        <p14:section name="DATA ASSET" id="{7B7CC75D-1790-48A0-B2E9-60F26F929004}">
          <p14:sldIdLst/>
        </p14:section>
        <p14:section name="RENOVATE STATUS" id="{FEBE1201-485A-43C9-8D30-F3F792AC7500}">
          <p14:sldIdLst>
            <p14:sldId id="271"/>
            <p14:sldId id="311"/>
            <p14:sldId id="268"/>
          </p14:sldIdLst>
        </p14:section>
      </p14:section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  <p188:author id="{042E7B07-FA23-F564-8058-7BB04A29A8C6}" name="YAHYA VARGAS Pierre-arnaud" initials="PY" userId="S::pierre-arnaud.yahyavargas@loreal.com::320b7ae4-a203-40db-906a-921bf29b6ba8" providerId="AD"/>
  <p188:author id="{00634C08-E9EE-8D5A-B860-268DFE6DA57B}" name="KASEM Nesma" initials="KN" userId="S::nesma.kasem@loreal.com::8d95e791-d4e6-43a8-bc7a-a63eff0defae" providerId="AD"/>
  <p188:author id="{8C91A90D-D76A-A86A-C50C-392F1FFD98F8}" name="LAROCHELLE Olivier - QUANTUM" initials="OL" userId="S::olivier.larochelle@loreal.com::7253ef10-a1d3-4d37-90a9-1f9a6292bbe1" providerId="AD"/>
  <p188:author id="{0BEC9C0E-FCCF-9895-63CA-B65F1B41D9BE}" name="TE Claudia" initials="" userId="S::claudia.te@loreal.com::ed76c82c-5e6d-4bbd-91e2-463959ba0cd0" providerId="AD"/>
  <p188:author id="{F61F111F-F319-C194-8BF0-6C9C048DBE57}" name="DUVAL-MORALES Catherine" initials="" userId="S::Catherine.Duval-Morales@loreal.com::bef6acaa-e44a-4d3c-8975-cc3e375e05c8" providerId="AD"/>
  <p188:author id="{F8E29823-155C-AE26-A2C2-E4D97DDECA1D}" name="VAILLANCOURT Jennifer" initials="VJ" userId="S::jennifer.vaillancourt@loreal.com::c529dd7b-9582-410c-95db-87469a047a89" providerId="AD"/>
  <p188:author id="{F0B91D29-4078-1B28-5AD5-9FABDE0CFB61}" name="PETKUTE Monika" initials="" userId="S::monika.petkute@loreal.com::c81acf00-6a31-481e-9015-713d0e11cb8e" providerId="AD"/>
  <p188:author id="{18B8C02E-A5C7-CEAE-702A-25137D0A3D37}" name="PRIONTA Farhan Samin - QUANTUM" initials="FP" userId="S::farhan.saminprionta@loreal.com::58015538-1112-4cea-af35-31ea614d0832" providerId="AD"/>
  <p188:author id="{F3CB672F-C677-5957-B96B-6EDBABDF701D}" name="TAYLOR Niamh" initials="TN" userId="S::niamh.taylor@loreal.com::5089325d-79de-4213-86b5-3bf2ad761fee" providerId="AD"/>
  <p188:author id="{5A4B0A36-C0DE-E17E-BDDA-9EE4EFC93CD9}" name="GUILARD Damien - TEKSYSTEM" initials="" userId="S::damien.guilard@loreal.com::e8a233ed-0e33-4eb2-86cf-e9b30fc21818" providerId="AD"/>
  <p188:author id="{A813A74A-FCF6-2587-AEFA-1944FC6FA164}" name="BACH Lina" initials="BL" userId="S::lina.bach@loreal.com::d3ab485a-0376-43df-851f-7c4b8e82998b" providerId="AD"/>
  <p188:author id="{0DF93C4B-3B31-84B8-E39D-900D64242B3C}" name="VERDONCK Véronique" initials="" userId="S::veronique.verdonck@loreal.com::55b85d5f-ce80-4046-a975-9f9b7d33bb44" providerId="AD"/>
  <p188:author id="{C6D6E656-DD29-E619-9658-1527322D31F5}" name="DICKO Marc" initials="MD" userId="S::Marc.DICKO3@loreal.com::1c79742a-0e7e-4bd3-8796-48153bda83f8" providerId="AD"/>
  <p188:author id="{919EE959-AB50-D2CF-3DE7-575BE78A685D}" name="MOL Marie-adelaide" initials="MM" userId="S::marie-adelaide.mol@loreal.com::30d9dc33-d13d-4da1-9f78-ec8edca68654" providerId="AD"/>
  <p188:author id="{3442F65B-9756-0C88-8E06-B8518EE26B61}" name="HUANG Sebastian" initials="SH" userId="S::sebastian.huang@loreal.com::03ddcf2b-aabd-44b8-9feb-1cb8b14e50d3" providerId="AD"/>
  <p188:author id="{FB797A61-45AA-B159-2CE7-958E6E30A308}" name="CHANG Sonia" initials="SC" userId="S::Sonia.Chang@loreal.com::4b541545-fb63-48f9-bbd0-df39fceeaa40" providerId="AD"/>
  <p188:author id="{8F01DE65-20B3-F27A-C576-72434185525D}" name="LI Patricia" initials="PL" userId="S::Patricia.Li@loreal.com::fc0babe4-a86a-4391-9e80-558ddfcf7c60" providerId="AD"/>
  <p188:author id="{E417186D-F279-709A-560D-AD286194A5F5}" name="DESILETS Charles" initials="DC" userId="S::charles.desilets@loreal.com::79bd7fac-98e8-4e0c-9c11-0529b7dc9f9a" providerId="AD"/>
  <p188:author id="{744DD775-9867-8024-C381-84A43AEB45DF}" name="BEGUE Ludovic" initials="LB" userId="S::Ludovic.begue@loreal.com::c57640f1-085e-402b-ac56-59f1fadd47a6" providerId="AD"/>
  <p188:author id="{910B867A-1273-7E1D-6DE6-8ADD5C1012D9}" name="DUTHU Bastien - CONVERTEO" initials="" userId="S::bastien.duthu@loreal.com::b3f7004f-e530-49c9-8eba-778b48e66aed" providerId="AD"/>
  <p188:author id="{C042578C-5CC7-1D6F-1B34-495C98C3950C}" name="TE Claudia" initials="TC" userId="TE Claudia" providerId="None"/>
  <p188:author id="{6C55028E-7E04-F909-D055-418EFDAFAF60}" name="MICHEL Kevin" initials="MK" userId="S::kevin.michel@loreal.com::79b4ba38-7a2a-482e-b2ff-a5395f7cb96f" providerId="AD"/>
  <p188:author id="{63116995-4854-28C6-1F82-1A4584ECD959}" name="SIAM Richard - TEK SYSTEMS" initials="" userId="S::richard.siam@loreal.com::ba217b07-6bdb-4641-87f2-373cfc5f7926" providerId="AD"/>
  <p188:author id="{DEB4979C-CB14-7C93-1DB3-EDED9F3F8DD9}" name="FLORES DONOSO Alejandro" initials="FDA" userId="S::Alejandro.FLORES@loreal.com::2347bcf1-5706-404a-9eb4-0a49bc8016d5" providerId="AD"/>
  <p188:author id="{FF3D4F9D-D2D1-7216-9DB0-6B02E3DFE81D}" name="RANDISI Justin" initials="JR" userId="S::justin.randisi@loreal.com::b9b24249-cc54-44eb-83bd-79fe0b63e904" providerId="AD"/>
  <p188:author id="{D16CD5A1-9DBC-19E0-CF39-73463F103D4E}" name="AYAD Ayah" initials="" userId="S::ayah.ayad@loreal.com::360c2e0e-d412-4790-8bca-1f2061fcb8b5" providerId="AD"/>
  <p188:author id="{A24AD0AB-526C-1E09-7426-0134819A4D65}" name="DE KNYFF Virginie" initials="VD" userId="S::Virginie.DEKNYFF@loreal.com::cc79f369-ea70-43d2-8060-75e8e09633ae" providerId="AD"/>
  <p188:author id="{FEAF3FB2-F133-8DF7-2AFF-97E62FB2FA10}" name="GONZALEZ Andres" initials="AG" userId="S::andres.gonzaleza@loreal.com::c64fb19e-5b42-416e-aa6d-6ffb1afe2aa2" providerId="AD"/>
  <p188:author id="{53FCC6BD-1B45-3270-E6C7-4776BE7C6D3F}" name="FLORES DONOSO Alejandro" initials="FA" userId="S::alejandro.flores@loreal.com::2347bcf1-5706-404a-9eb4-0a49bc8016d5" providerId="AD"/>
  <p188:author id="{9B3C53CC-1BCA-455A-DCFF-E14F3ADD12EA}" name="GOYETTE Jessy" initials="GJ" userId="S::jessy.goyette@loreal.com::102ad879-9d50-4ed1-9688-6c1c6d0575bd" providerId="AD"/>
  <p188:author id="{C441B0CC-9418-6565-8D64-5237F7C44BE6}" name="DOSBA Francois - CONVERTEO" initials="" userId="S::francois.dosba@loreal.com::f151ecc3-8b4f-4561-a245-333be54cccee" providerId="AD"/>
  <p188:author id="{05663ED6-D173-58C2-84D4-66CD11E9CA67}" name="VAKIL Raman - QUANTUM" initials="VQ" userId="S::raman.vakil@loreal.com::7e625d54-3f93-4e0e-a4df-451a4cc195bf" providerId="AD"/>
  <p188:author id="{F05E9EDE-F7C6-838A-5274-91A30968706C}" name="MICHEL Emma" initials="EM" userId="S::emma.michel@loreal.com::402fb506-fdb7-4e43-b010-b5a27c7e8abd" providerId="AD"/>
  <p188:author id="{35C1B9DF-B6CF-CF3F-BEEA-E8F5AD6B007F}" name="DUSSAULT Thomas" initials="TD" userId="S::thomas.dussault@loreal.com::e501fc79-d8de-4007-93cb-6f352b15b069" providerId="AD"/>
  <p188:author id="{CE7272E0-7B8A-AF58-50DB-CF9FCCA02D4C}" name="YOUSFI Mezyan" initials="MY" userId="S::mezyan.yousfi@loreal.com::b066c996-14fc-4af3-96bc-0e5e1938cf1b" providerId="AD"/>
  <p188:author id="{D88930E5-E28E-BB61-416B-AFE94878B615}" name="BATISTA RUIVO Patricia" initials="" userId="S::patricia.batistaruivo@loreal.com::3ef68239-d8e2-435c-9cb1-897e51fdd08d" providerId="AD"/>
  <p188:author id="{7BD0FAE7-20B4-9EAC-CEAC-25671A5722CE}" name="HERNANDEZ Sandra" initials="SH" userId="S::sandra.hdez@loreal.com::8eb45f10-e048-4018-8f14-c6497c5dd70b" providerId="AD"/>
  <p188:author id="{CF8C3DF9-8985-3F81-D78B-DF9A206A8C0C}" name="GIRARD Olivier" initials="OG" userId="S::olivier.girard@loreal.com::06717321-4d0e-40ee-a8f4-07dd1c4ccb7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44F5"/>
    <a:srgbClr val="4DA72E"/>
    <a:srgbClr val="F7F7F7"/>
    <a:srgbClr val="EAEAEA"/>
    <a:srgbClr val="00B050"/>
    <a:srgbClr val="274BF6"/>
    <a:srgbClr val="2147F4"/>
    <a:srgbClr val="2950F6"/>
    <a:srgbClr val="5A87DE"/>
    <a:srgbClr val="60619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645D7AF-010F-E467-FA64-62558F7B8C2F}" v="1" dt="2026-10-09T15:29:04.670"/>
    <p1510:client id="{554409FE-13E1-454C-A587-66089E66036E}" v="2059" dt="2026-10-09T17:07:37.339"/>
    <p1510:client id="{6374CDEF-D959-8342-9B9E-E99B57F97001}" v="56" dt="2026-10-09T19:37:24.989"/>
    <p1510:client id="{690E7F31-9376-CB4D-842A-57E127DA6FF5}" v="454" dt="2026-10-09T16:43:50.413"/>
    <p1510:client id="{6EF77C6E-698F-4762-89F6-51D837ABDF52}" v="243" dt="2026-10-09T16:20:19.059"/>
    <p1510:client id="{9E254594-0FB7-EF94-B058-E36DBA8294FB}" v="245" dt="2026-10-09T16:19:06.013"/>
    <p1510:client id="{A08EC62D-889D-744A-918B-AC6C2F983C85}" v="1526" dt="2026-10-09T18:57:36.445"/>
    <p1510:client id="{AAC46A04-5A9D-384B-A433-9B036A18A962}" v="127" dt="2026-10-09T18:48:12.783"/>
    <p1510:client id="{AC45B596-7B92-43B4-A554-78E0E10E5A92}" v="1076" dt="2026-10-09T16:20:27.02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/>
    <p:restoredTop sz="94658"/>
  </p:normalViewPr>
  <p:slideViewPr>
    <p:cSldViewPr snapToGrid="0">
      <p:cViewPr varScale="1">
        <p:scale>
          <a:sx n="120" d="100"/>
          <a:sy n="120" d="100"/>
        </p:scale>
        <p:origin x="2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34" Type="http://schemas.openxmlformats.org/officeDocument/2006/relationships/viewProps" Target="viewProps.xml"/><Relationship Id="rId25" Type="http://schemas.openxmlformats.org/officeDocument/2006/relationships/slide" Target="slides/slide19.xml"/><Relationship Id="rId33" Type="http://schemas.openxmlformats.org/officeDocument/2006/relationships/presProps" Target="presProps.xml"/><Relationship Id="rId38" Type="http://schemas.microsoft.com/office/2018/10/relationships/authors" Target="authors.xml"/><Relationship Id="rId2" Type="http://schemas.openxmlformats.org/officeDocument/2006/relationships/customXml" Target="../customXml/item2.xml"/><Relationship Id="rId20" Type="http://schemas.openxmlformats.org/officeDocument/2006/relationships/slide" Target="slides/slide14.xml"/><Relationship Id="rId29" Type="http://schemas.openxmlformats.org/officeDocument/2006/relationships/slide" Target="slides/slide23.xml"/><Relationship Id="rId1" Type="http://schemas.openxmlformats.org/officeDocument/2006/relationships/customXml" Target="../customXml/item1.xml"/><Relationship Id="rId32" Type="http://schemas.openxmlformats.org/officeDocument/2006/relationships/notesMaster" Target="notesMasters/notesMaster1.xml"/><Relationship Id="rId37" Type="http://schemas.microsoft.com/office/2015/10/relationships/revisionInfo" Target="revisionInfo.xml"/><Relationship Id="rId36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35" Type="http://schemas.openxmlformats.org/officeDocument/2006/relationships/theme" Target="theme/theme1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84AA40-9F13-490C-9F18-D7751D0B560B}" type="datetimeFigureOut">
              <a:rPr lang="en-US" smtClean="0"/>
              <a:t>10/9/26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4164B6-BA51-4A8A-A631-24F2995E65E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5667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4834413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3" Type="http://schemas.openxmlformats.org/officeDocument/2006/relationships/image" Target="../media/image1.png"/><Relationship Id="rId12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15" Type="http://schemas.openxmlformats.org/officeDocument/2006/relationships/image" Target="../media/image3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19D1516-6C42-6D86-5D24-88C8201B6AA7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673725" y="6530340"/>
            <a:ext cx="876300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900">
                <a:solidFill>
                  <a:srgbClr val="008000">
                    <a:alpha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C1 - Internal use</a:t>
            </a:r>
          </a:p>
        </p:txBody>
      </p:sp>
      <p:pic>
        <p:nvPicPr>
          <p:cNvPr id="2" name="object 2">
            <a:extLst>
              <a:ext uri="{FF2B5EF4-FFF2-40B4-BE49-F238E27FC236}">
                <a16:creationId xmlns:a16="http://schemas.microsoft.com/office/drawing/2014/main" id="{FF870F86-0ADA-D6A9-2FF5-933207272980}"/>
              </a:ext>
            </a:extLst>
          </p:cNvPr>
          <p:cNvPicPr/>
          <p:nvPr userDrawn="1"/>
        </p:nvPicPr>
        <p:blipFill>
          <a:blip r:embed="rId13" cstate="print"/>
          <a:stretch>
            <a:fillRect/>
          </a:stretch>
        </p:blipFill>
        <p:spPr>
          <a:xfrm>
            <a:off x="428" y="749957"/>
            <a:ext cx="12191144" cy="6107561"/>
          </a:xfrm>
          <a:prstGeom prst="rect">
            <a:avLst/>
          </a:prstGeom>
        </p:spPr>
      </p:pic>
      <p:pic>
        <p:nvPicPr>
          <p:cNvPr id="4" name="Picture 6">
            <a:extLst>
              <a:ext uri="{FF2B5EF4-FFF2-40B4-BE49-F238E27FC236}">
                <a16:creationId xmlns:a16="http://schemas.microsoft.com/office/drawing/2014/main" id="{01793B4A-57E4-5D7A-2806-77A0CA0F3870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681250" y="81280"/>
            <a:ext cx="1583160" cy="44107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8C452A4-18AE-6149-F836-495AF3C5FD4E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10945129" y="6079050"/>
            <a:ext cx="1228837" cy="670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468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0" r:id="rId6"/>
  </p:sldLayoutIdLst>
  <p:transition spd="med"/>
  <p:txStyles>
    <p:titleStyle>
      <a:lvl1pPr algn="l" defTabSz="1217613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4200" b="1" spc="-85">
          <a:solidFill>
            <a:srgbClr val="000000"/>
          </a:solidFill>
          <a:latin typeface="+mn-lt"/>
          <a:ea typeface="+mn-ea"/>
          <a:cs typeface="+mn-cs"/>
          <a:sym typeface="Helvetica Neue"/>
        </a:defRPr>
      </a:lvl1pPr>
      <a:lvl2pPr algn="l" defTabSz="1217613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4200" b="1" spc="-85">
          <a:solidFill>
            <a:srgbClr val="000000"/>
          </a:solidFill>
          <a:latin typeface="+mn-lt"/>
          <a:ea typeface="+mn-ea"/>
          <a:cs typeface="+mn-cs"/>
          <a:sym typeface="Helvetica Neue"/>
        </a:defRPr>
      </a:lvl2pPr>
      <a:lvl3pPr algn="l" defTabSz="1217613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4200" b="1" spc="-85">
          <a:solidFill>
            <a:srgbClr val="000000"/>
          </a:solidFill>
          <a:latin typeface="+mn-lt"/>
          <a:ea typeface="+mn-ea"/>
          <a:cs typeface="+mn-cs"/>
          <a:sym typeface="Helvetica Neue"/>
        </a:defRPr>
      </a:lvl3pPr>
      <a:lvl4pPr algn="l" defTabSz="1217613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4200" b="1" spc="-85">
          <a:solidFill>
            <a:srgbClr val="000000"/>
          </a:solidFill>
          <a:latin typeface="+mn-lt"/>
          <a:ea typeface="+mn-ea"/>
          <a:cs typeface="+mn-cs"/>
          <a:sym typeface="Helvetica Neue"/>
        </a:defRPr>
      </a:lvl4pPr>
      <a:lvl5pPr algn="l" defTabSz="1217613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4200" b="1" spc="-85">
          <a:solidFill>
            <a:srgbClr val="000000"/>
          </a:solidFill>
          <a:latin typeface="+mn-lt"/>
          <a:ea typeface="+mn-ea"/>
          <a:cs typeface="+mn-cs"/>
          <a:sym typeface="Helvetica Neue"/>
        </a:defRPr>
      </a:lvl5pPr>
      <a:lvl6pPr marL="0" marR="0" indent="1143000" algn="l" defTabSz="121916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50" b="1" i="0" u="none" strike="noStrike" cap="none" spc="-85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1371600" algn="l" defTabSz="121916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50" b="1" i="0" u="none" strike="noStrike" cap="none" spc="-85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1600200" algn="l" defTabSz="121916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50" b="1" i="0" u="none" strike="noStrike" cap="none" spc="-85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1828800" algn="l" defTabSz="121916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50" b="1" i="0" u="none" strike="noStrike" cap="none" spc="-85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304800" indent="-304800" algn="l" defTabSz="1217613" rtl="0" eaLnBrk="0" fontAlgn="base" hangingPunct="0">
        <a:lnSpc>
          <a:spcPct val="90000"/>
        </a:lnSpc>
        <a:spcBef>
          <a:spcPts val="2250"/>
        </a:spcBef>
        <a:spcAft>
          <a:spcPct val="0"/>
        </a:spcAft>
        <a:buSzPct val="123000"/>
        <a:buChar char="•"/>
        <a:defRPr sz="2400">
          <a:solidFill>
            <a:srgbClr val="000000"/>
          </a:solidFill>
          <a:latin typeface="+mn-lt"/>
          <a:ea typeface="+mn-ea"/>
          <a:cs typeface="+mn-cs"/>
          <a:sym typeface="Helvetica Neue"/>
        </a:defRPr>
      </a:lvl1pPr>
      <a:lvl2pPr marL="609600" indent="-304800" algn="l" defTabSz="1217613" rtl="0" eaLnBrk="0" fontAlgn="base" hangingPunct="0">
        <a:lnSpc>
          <a:spcPct val="90000"/>
        </a:lnSpc>
        <a:spcBef>
          <a:spcPts val="2250"/>
        </a:spcBef>
        <a:spcAft>
          <a:spcPct val="0"/>
        </a:spcAft>
        <a:buSzPct val="123000"/>
        <a:buChar char="•"/>
        <a:defRPr sz="2400">
          <a:solidFill>
            <a:srgbClr val="000000"/>
          </a:solidFill>
          <a:latin typeface="+mn-lt"/>
          <a:ea typeface="+mn-ea"/>
          <a:cs typeface="+mn-cs"/>
          <a:sym typeface="Helvetica Neue"/>
        </a:defRPr>
      </a:lvl2pPr>
      <a:lvl3pPr marL="914400" indent="-304800" algn="l" defTabSz="1217613" rtl="0" eaLnBrk="0" fontAlgn="base" hangingPunct="0">
        <a:lnSpc>
          <a:spcPct val="90000"/>
        </a:lnSpc>
        <a:spcBef>
          <a:spcPts val="2250"/>
        </a:spcBef>
        <a:spcAft>
          <a:spcPct val="0"/>
        </a:spcAft>
        <a:buSzPct val="123000"/>
        <a:buChar char="•"/>
        <a:defRPr sz="2400">
          <a:solidFill>
            <a:srgbClr val="000000"/>
          </a:solidFill>
          <a:latin typeface="+mn-lt"/>
          <a:ea typeface="+mn-ea"/>
          <a:cs typeface="+mn-cs"/>
          <a:sym typeface="Helvetica Neue"/>
        </a:defRPr>
      </a:lvl3pPr>
      <a:lvl4pPr marL="1219200" indent="-304800" algn="l" defTabSz="1217613" rtl="0" eaLnBrk="0" fontAlgn="base" hangingPunct="0">
        <a:lnSpc>
          <a:spcPct val="90000"/>
        </a:lnSpc>
        <a:spcBef>
          <a:spcPts val="2250"/>
        </a:spcBef>
        <a:spcAft>
          <a:spcPct val="0"/>
        </a:spcAft>
        <a:buSzPct val="123000"/>
        <a:buChar char="•"/>
        <a:defRPr sz="2400">
          <a:solidFill>
            <a:srgbClr val="000000"/>
          </a:solidFill>
          <a:latin typeface="+mn-lt"/>
          <a:ea typeface="+mn-ea"/>
          <a:cs typeface="+mn-cs"/>
          <a:sym typeface="Helvetica Neue"/>
        </a:defRPr>
      </a:lvl4pPr>
      <a:lvl5pPr marL="1524000" indent="-304800" algn="l" defTabSz="1217613" rtl="0" eaLnBrk="0" fontAlgn="base" hangingPunct="0">
        <a:lnSpc>
          <a:spcPct val="90000"/>
        </a:lnSpc>
        <a:spcBef>
          <a:spcPts val="2250"/>
        </a:spcBef>
        <a:spcAft>
          <a:spcPct val="0"/>
        </a:spcAft>
        <a:buSzPct val="123000"/>
        <a:buChar char="•"/>
        <a:defRPr sz="2400">
          <a:solidFill>
            <a:srgbClr val="000000"/>
          </a:solidFill>
          <a:latin typeface="+mn-lt"/>
          <a:ea typeface="+mn-ea"/>
          <a:cs typeface="+mn-cs"/>
          <a:sym typeface="Helvetica Neue"/>
        </a:defRPr>
      </a:lvl5pPr>
      <a:lvl6pPr marL="1828800" marR="0" indent="-304800" algn="l" defTabSz="1219169" rtl="0" latinLnBrk="0">
        <a:lnSpc>
          <a:spcPct val="90000"/>
        </a:lnSpc>
        <a:spcBef>
          <a:spcPts val="2250"/>
        </a:spcBef>
        <a:spcAft>
          <a:spcPts val="0"/>
        </a:spcAft>
        <a:buClrTx/>
        <a:buSzPct val="123000"/>
        <a:buFontTx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2133600" marR="0" indent="-304800" algn="l" defTabSz="1219169" rtl="0" latinLnBrk="0">
        <a:lnSpc>
          <a:spcPct val="90000"/>
        </a:lnSpc>
        <a:spcBef>
          <a:spcPts val="2250"/>
        </a:spcBef>
        <a:spcAft>
          <a:spcPts val="0"/>
        </a:spcAft>
        <a:buClrTx/>
        <a:buSzPct val="123000"/>
        <a:buFontTx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2438400" marR="0" indent="-304800" algn="l" defTabSz="1219169" rtl="0" latinLnBrk="0">
        <a:lnSpc>
          <a:spcPct val="90000"/>
        </a:lnSpc>
        <a:spcBef>
          <a:spcPts val="2250"/>
        </a:spcBef>
        <a:spcAft>
          <a:spcPts val="0"/>
        </a:spcAft>
        <a:buClrTx/>
        <a:buSzPct val="123000"/>
        <a:buFontTx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2743200" marR="0" indent="-304800" algn="l" defTabSz="1219169" rtl="0" latinLnBrk="0">
        <a:lnSpc>
          <a:spcPct val="90000"/>
        </a:lnSpc>
        <a:spcBef>
          <a:spcPts val="2250"/>
        </a:spcBef>
        <a:spcAft>
          <a:spcPts val="0"/>
        </a:spcAft>
        <a:buClrTx/>
        <a:buSzPct val="123000"/>
        <a:buFontTx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2921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228600" algn="ctr" defTabSz="2921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457200" algn="ctr" defTabSz="2921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685800" algn="ctr" defTabSz="2921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914400" algn="ctr" defTabSz="2921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1143000" algn="ctr" defTabSz="2921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1371600" algn="ctr" defTabSz="2921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1600200" algn="ctr" defTabSz="2921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1828800" algn="ctr" defTabSz="2921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9.png"/><Relationship Id="rId5" Type="http://schemas.openxmlformats.org/officeDocument/2006/relationships/image" Target="../media/image75.png"/><Relationship Id="rId4" Type="http://schemas.openxmlformats.org/officeDocument/2006/relationships/image" Target="../media/image78.png"/></Relationships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>
            <a:extLst>
              <a:ext uri="{FF2B5EF4-FFF2-40B4-BE49-F238E27FC236}">
                <a16:creationId xmlns:a16="http://schemas.microsoft.com/office/drawing/2014/main" id="{4A88D9EF-A5BF-B942-6C53-71ED7ED6CD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1250" y="81280"/>
            <a:ext cx="1583160" cy="44107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309688F-A0C5-B8DF-33D1-B4602F02E8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3163" y="6179560"/>
            <a:ext cx="1228837" cy="670660"/>
          </a:xfrm>
          <a:prstGeom prst="rect">
            <a:avLst/>
          </a:prstGeom>
        </p:spPr>
      </p:pic>
      <p:pic>
        <p:nvPicPr>
          <p:cNvPr id="3" name="vidéo-collée.png" descr="vidéo-collée.png">
            <a:extLst>
              <a:ext uri="{FF2B5EF4-FFF2-40B4-BE49-F238E27FC236}">
                <a16:creationId xmlns:a16="http://schemas.microsoft.com/office/drawing/2014/main" id="{3732FD64-9E4A-D66D-1FD1-25580FD1939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6632" r="763" b="13802"/>
          <a:stretch/>
        </p:blipFill>
        <p:spPr>
          <a:xfrm>
            <a:off x="335126" y="988616"/>
            <a:ext cx="11521748" cy="5190944"/>
          </a:xfrm>
          <a:prstGeom prst="roundRect">
            <a:avLst>
              <a:gd name="adj" fmla="val 2621"/>
            </a:avLst>
          </a:prstGeom>
          <a:ln w="12700">
            <a:miter lim="400000"/>
          </a:ln>
        </p:spPr>
      </p:pic>
      <p:sp>
        <p:nvSpPr>
          <p:cNvPr id="6" name="/MEDIA Brands Shape fabric of culture">
            <a:extLst>
              <a:ext uri="{FF2B5EF4-FFF2-40B4-BE49-F238E27FC236}">
                <a16:creationId xmlns:a16="http://schemas.microsoft.com/office/drawing/2014/main" id="{B19919A0-62D3-D22B-0D36-FD24183C4A2F}"/>
              </a:ext>
            </a:extLst>
          </p:cNvPr>
          <p:cNvSpPr txBox="1"/>
          <p:nvPr/>
        </p:nvSpPr>
        <p:spPr>
          <a:xfrm>
            <a:off x="1649781" y="1417320"/>
            <a:ext cx="5669280" cy="12801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25400" tIns="25400" rIns="25400" bIns="25400" anchor="t">
            <a:spAutoFit/>
          </a:bodyPr>
          <a:lstStyle/>
          <a:p>
            <a:pPr marL="0" marR="0" lvl="0" indent="0" algn="l" defTabSz="1219169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900" spc="-245">
                <a:gradFill flip="none" rotWithShape="1">
                  <a:gsLst>
                    <a:gs pos="0">
                      <a:srgbClr val="F3B24B"/>
                    </a:gs>
                    <a:gs pos="100000">
                      <a:srgbClr val="E73F65"/>
                    </a:gs>
                  </a:gsLst>
                  <a:lin ang="5400000" scaled="0"/>
                </a:gradFill>
                <a:latin typeface="LOREAL Essentielle Black"/>
                <a:ea typeface="LOREAL Essentielle Black"/>
                <a:cs typeface="LOREAL Essentielle Black"/>
                <a:sym typeface="LOREAL Essentielle Black"/>
              </a:defRPr>
            </a:pPr>
            <a:r>
              <a:rPr kumimoji="0" lang="fr-FR" sz="2200" b="1" i="0" u="none" strike="noStrike" kern="0" cap="none" spc="-123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OREAL Essentielle Black" pitchFamily="2" charset="77"/>
                <a:ea typeface="LOREAL Essentielle Black"/>
                <a:cs typeface="LOREAL Essentielle Black"/>
                <a:sym typeface="LOREAL Essentielle Black"/>
              </a:rPr>
              <a:t>10 GOLD DESIGN</a:t>
            </a:r>
            <a:br>
              <a:rPr kumimoji="0" lang="fr-FR" sz="2200" b="1" i="0" u="none" strike="noStrike" kern="0" cap="none" spc="-123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OREAL Essentielle Black" pitchFamily="2" charset="77"/>
                <a:ea typeface="LOREAL Essentielle Black"/>
                <a:cs typeface="LOREAL Essentielle Black"/>
                <a:sym typeface="LOREAL Essentielle Black"/>
              </a:rPr>
            </a:br>
            <a:r>
              <a:rPr kumimoji="0" lang="fr-FR" sz="2200" b="1" i="0" u="none" strike="noStrike" kern="0" cap="none" spc="-123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OREAL Essentielle Black" pitchFamily="2" charset="77"/>
                <a:ea typeface="LOREAL Essentielle Black"/>
                <a:cs typeface="LOREAL Essentielle Black"/>
                <a:sym typeface="LOREAL Essentielle Black"/>
              </a:rPr>
              <a:t>QUESTIONS UNRESOLVED</a:t>
            </a:r>
            <a:br>
              <a:rPr kumimoji="0" lang="fr-FR" sz="1200" b="0" i="0" u="none" strike="noStrike" kern="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OREAL Essentielle Light" pitchFamily="2" charset="77"/>
                <a:ea typeface="LOREAL Essentielle Black"/>
                <a:cs typeface="LOREAL Essentielle Black"/>
                <a:sym typeface="LOREAL Essentielle Black"/>
              </a:rPr>
            </a:br>
            <a:r>
              <a:rPr kumimoji="0" lang="fr-FR" sz="1200" b="0" i="0" u="none" strike="noStrike" kern="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OREAL Essentielle Light" pitchFamily="2" charset="77"/>
                <a:ea typeface="LOREAL Essentielle Black"/>
                <a:cs typeface="LOREAL Essentielle Black"/>
                <a:sym typeface="LOREAL Essentielle Black"/>
              </a:rPr>
              <a:t>Snapshots, derived KPIs, ID naming, definitions (contactable,</a:t>
            </a:r>
            <a:br>
              <a:rPr kumimoji="0" lang="fr-FR" sz="1200" b="0" i="0" u="none" strike="noStrike" kern="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OREAL Essentielle Light" pitchFamily="2" charset="77"/>
                <a:ea typeface="LOREAL Essentielle Black"/>
                <a:cs typeface="LOREAL Essentielle Black"/>
                <a:sym typeface="LOREAL Essentielle Black"/>
              </a:rPr>
            </a:br>
            <a:r>
              <a:rPr kumimoji="0" lang="fr-FR" sz="1200" b="0" i="0" u="none" strike="noStrike" kern="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OREAL Essentielle Light" pitchFamily="2" charset="77"/>
                <a:ea typeface="LOREAL Essentielle Black"/>
                <a:cs typeface="LOREAL Essentielle Black"/>
                <a:sym typeface="LOREAL Essentielle Black"/>
              </a:rPr>
              <a:t>engagement, new buyer, churn), Canada attributes, refresh, migration</a:t>
            </a:r>
            <a:br>
              <a:rPr kumimoji="0" lang="fr-FR" sz="1200" b="0" i="0" u="none" strike="noStrike" kern="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OREAL Essentielle Light" pitchFamily="2" charset="77"/>
                <a:ea typeface="LOREAL Essentielle Black"/>
                <a:cs typeface="LOREAL Essentielle Black"/>
                <a:sym typeface="LOREAL Essentielle Black"/>
              </a:rPr>
            </a:br>
            <a:r>
              <a:rPr kumimoji="0" lang="fr-FR" sz="1200" b="0" i="0" u="none" strike="noStrike" kern="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OREAL Essentielle Light" pitchFamily="2" charset="77"/>
                <a:ea typeface="LOREAL Essentielle Black"/>
                <a:cs typeface="LOREAL Essentielle Black"/>
                <a:sym typeface="LOREAL Essentielle Black"/>
              </a:rPr>
              <a:t>Deepti decides · late Canada input = rework on Canada dashboards</a:t>
            </a:r>
            <a:endParaRPr kumimoji="0" lang="fr-FR" sz="1600" b="0" i="0" u="none" strike="noStrike" kern="0" cap="none" spc="-10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OREAL Essentielle Light" pitchFamily="2" charset="77"/>
              <a:ea typeface="LOREAL Essentielle Black"/>
              <a:cs typeface="LOREAL Essentielle Black"/>
              <a:sym typeface="LOREAL Essentielle"/>
            </a:endParaRPr>
          </a:p>
        </p:txBody>
      </p:sp>
      <p:sp>
        <p:nvSpPr>
          <p:cNvPr id="7" name="Rectangle : coins arrondis 1">
            <a:extLst>
              <a:ext uri="{FF2B5EF4-FFF2-40B4-BE49-F238E27FC236}">
                <a16:creationId xmlns:a16="http://schemas.microsoft.com/office/drawing/2014/main" id="{1BEB303A-C724-6378-2DF7-2439AB36FD4D}"/>
              </a:ext>
            </a:extLst>
          </p:cNvPr>
          <p:cNvSpPr/>
          <p:nvPr/>
        </p:nvSpPr>
        <p:spPr>
          <a:xfrm>
            <a:off x="1006075" y="1417320"/>
            <a:ext cx="533465" cy="533465"/>
          </a:xfrm>
          <a:prstGeom prst="roundRect">
            <a:avLst/>
          </a:prstGeom>
          <a:solidFill>
            <a:srgbClr val="1738CA"/>
          </a:solidFill>
          <a:ln w="12700" cap="flat">
            <a:noFill/>
            <a:miter lim="400000"/>
          </a:ln>
          <a:effectLst/>
          <a:sp3d/>
        </p:spPr>
        <p:txBody>
          <a:bodyPr rot="0" spcFirstLastPara="1" vertOverflow="overflow" horzOverflow="overflow" vert="horz" wrap="square" lIns="25400" tIns="25400" rIns="25400" bIns="25400" numCol="1" spcCol="38100" rtlCol="0" anchor="ctr">
            <a:noAutofit/>
          </a:bodyPr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1" u="none" strike="noStrike" kern="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OREAL Essentielle Light" pitchFamily="2" charset="77"/>
                <a:ea typeface="Helvetica Neue"/>
                <a:cs typeface="Helvetica Neue"/>
                <a:sym typeface="LOREAL Essentielle Light"/>
              </a:rPr>
              <a:t>I</a:t>
            </a:r>
            <a:r>
              <a:rPr kumimoji="0" lang="fr-FR" sz="2000" b="0" i="1" u="none" strike="noStrike" kern="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OREAL Essentielle Light" pitchFamily="2" charset="77"/>
                <a:ea typeface="LOREAL Essentielle Light"/>
                <a:cs typeface="LOREAL Essentielle Light"/>
                <a:sym typeface="LOREAL Essentielle Light"/>
              </a:rPr>
              <a:t> </a:t>
            </a:r>
            <a:r>
              <a:rPr kumimoji="0" lang="fr-FR" sz="2000" b="1" i="1" u="none" strike="noStrike" kern="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OREAL Essentielle Black" pitchFamily="2" charset="77"/>
                <a:ea typeface="LOREAL Essentielle Light"/>
                <a:cs typeface="LOREAL Essentielle Light"/>
                <a:sym typeface="LOREAL Essentielle Light"/>
              </a:rPr>
              <a:t>1</a:t>
            </a:r>
            <a:endParaRPr kumimoji="0" lang="fr-FR" sz="2000" b="1" i="1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OREAL Essentielle Black" pitchFamily="2" charset="77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/MEDIA Brands Shape fabric of culture">
            <a:extLst>
              <a:ext uri="{FF2B5EF4-FFF2-40B4-BE49-F238E27FC236}">
                <a16:creationId xmlns:a16="http://schemas.microsoft.com/office/drawing/2014/main" id="{34E4C0F8-410C-768F-3133-092E7B75CCC0}"/>
              </a:ext>
            </a:extLst>
          </p:cNvPr>
          <p:cNvSpPr txBox="1"/>
          <p:nvPr/>
        </p:nvSpPr>
        <p:spPr>
          <a:xfrm>
            <a:off x="1649781" y="3063240"/>
            <a:ext cx="5669280" cy="12801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25400" tIns="25400" rIns="25400" bIns="25400" anchor="t">
            <a:spAutoFit/>
          </a:bodyPr>
          <a:lstStyle/>
          <a:p>
            <a:pPr marL="0" marR="0" lvl="0" indent="0" algn="l" defTabSz="1219169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900" spc="-245">
                <a:gradFill flip="none" rotWithShape="1">
                  <a:gsLst>
                    <a:gs pos="0">
                      <a:srgbClr val="F3B24B"/>
                    </a:gs>
                    <a:gs pos="100000">
                      <a:srgbClr val="E73F65"/>
                    </a:gs>
                  </a:gsLst>
                  <a:lin ang="5400000" scaled="0"/>
                </a:gradFill>
                <a:latin typeface="LOREAL Essentielle Black"/>
                <a:ea typeface="LOREAL Essentielle Black"/>
                <a:cs typeface="LOREAL Essentielle Black"/>
                <a:sym typeface="LOREAL Essentielle Black"/>
              </a:defRPr>
            </a:pPr>
            <a:r>
              <a:rPr kumimoji="0" lang="fr-FR" sz="2200" b="1" i="0" u="none" strike="noStrike" kern="0" cap="none" spc="-123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OREAL Essentielle Black" pitchFamily="2" charset="77"/>
                <a:ea typeface="LOREAL Essentielle Black"/>
                <a:cs typeface="LOREAL Essentielle Black"/>
                <a:sym typeface="LOREAL Essentielle Black"/>
              </a:rPr>
              <a:t>DATA ELEMENT</a:t>
            </a:r>
            <a:br>
              <a:rPr kumimoji="0" lang="fr-FR" sz="2200" b="1" i="0" u="none" strike="noStrike" kern="0" cap="none" spc="-123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OREAL Essentielle Black" pitchFamily="2" charset="77"/>
                <a:ea typeface="LOREAL Essentielle Black"/>
                <a:cs typeface="LOREAL Essentielle Black"/>
                <a:sym typeface="LOREAL Essentielle Black"/>
              </a:rPr>
            </a:br>
            <a:r>
              <a:rPr kumimoji="0" lang="fr-FR" sz="2200" b="1" i="0" u="none" strike="noStrike" kern="0" cap="none" spc="-123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OREAL Essentielle Black" pitchFamily="2" charset="77"/>
                <a:ea typeface="LOREAL Essentielle Black"/>
                <a:cs typeface="LOREAL Essentielle Black"/>
                <a:sym typeface="LOREAL Essentielle Black"/>
              </a:rPr>
              <a:t>REQUESTS PENDING</a:t>
            </a:r>
            <a:br>
              <a:rPr kumimoji="0" lang="fr-FR" sz="1200" b="0" i="0" u="none" strike="noStrike" kern="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OREAL Essentielle Light" pitchFamily="2" charset="77"/>
                <a:ea typeface="Helvetica Neue"/>
                <a:cs typeface="Helvetica Neue"/>
                <a:sym typeface="LOREAL Essentielle Black"/>
              </a:rPr>
            </a:br>
            <a:r>
              <a:rPr kumimoji="0" lang="fr-FR" sz="1200" b="0" i="0" u="none" strike="noStrike" kern="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OREAL Essentielle Light" pitchFamily="2" charset="77"/>
                <a:ea typeface="Helvetica Neue"/>
                <a:cs typeface="Helvetica Neue"/>
                <a:sym typeface="LOREAL Essentielle Black"/>
              </a:rPr>
              <a:t>Waiting: Sandra (SFMC, Attentive), Thomas &amp; Oli (Genie)</a:t>
            </a:r>
            <a:br>
              <a:rPr kumimoji="0" lang="fr-FR" sz="1200" b="0" i="0" u="none" strike="noStrike" kern="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OREAL Essentielle Light" pitchFamily="2" charset="77"/>
                <a:ea typeface="Helvetica Neue"/>
                <a:cs typeface="Helvetica Neue"/>
                <a:sym typeface="LOREAL Essentielle Black"/>
              </a:rPr>
            </a:br>
            <a:r>
              <a:rPr kumimoji="0" lang="fr-FR" sz="1200" b="0" i="0" u="none" strike="noStrike" kern="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OREAL Essentielle Light" pitchFamily="2" charset="77"/>
                <a:ea typeface="Helvetica Neue"/>
                <a:cs typeface="Helvetica Neue"/>
                <a:sym typeface="LOREAL Essentielle Black"/>
              </a:rPr>
              <a:t>Received: Damien (sub-categories, Is_Churn_12M_36M)</a:t>
            </a:r>
          </a:p>
        </p:txBody>
      </p:sp>
      <p:sp>
        <p:nvSpPr>
          <p:cNvPr id="9" name="Rectangle : coins arrondis 3">
            <a:extLst>
              <a:ext uri="{FF2B5EF4-FFF2-40B4-BE49-F238E27FC236}">
                <a16:creationId xmlns:a16="http://schemas.microsoft.com/office/drawing/2014/main" id="{18DF07E7-A170-E623-2C57-086C125619D7}"/>
              </a:ext>
            </a:extLst>
          </p:cNvPr>
          <p:cNvSpPr/>
          <p:nvPr/>
        </p:nvSpPr>
        <p:spPr>
          <a:xfrm>
            <a:off x="1006075" y="3063240"/>
            <a:ext cx="533465" cy="533465"/>
          </a:xfrm>
          <a:prstGeom prst="roundRect">
            <a:avLst/>
          </a:prstGeom>
          <a:solidFill>
            <a:srgbClr val="1738CA"/>
          </a:solidFill>
          <a:ln w="12700" cap="flat">
            <a:noFill/>
            <a:miter lim="400000"/>
          </a:ln>
          <a:effectLst/>
          <a:sp3d/>
        </p:spPr>
        <p:txBody>
          <a:bodyPr rot="0" spcFirstLastPara="1" vertOverflow="overflow" horzOverflow="overflow" vert="horz" wrap="square" lIns="25400" tIns="25400" rIns="25400" bIns="25400" numCol="1" spcCol="38100" rtlCol="0" anchor="ctr">
            <a:noAutofit/>
          </a:bodyPr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1" u="none" strike="noStrike" kern="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OREAL Essentielle Light" pitchFamily="2" charset="77"/>
                <a:ea typeface="Helvetica Neue"/>
                <a:cs typeface="Helvetica Neue"/>
                <a:sym typeface="LOREAL Essentielle Light"/>
              </a:rPr>
              <a:t>I </a:t>
            </a:r>
            <a:r>
              <a:rPr kumimoji="0" lang="fr-FR" sz="2000" b="1" i="1" u="none" strike="noStrike" kern="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OREAL Essentielle Black" pitchFamily="2" charset="77"/>
                <a:ea typeface="Helvetica Neue"/>
                <a:cs typeface="Helvetica Neue"/>
                <a:sym typeface="LOREAL Essentielle Light"/>
              </a:rPr>
              <a:t>2</a:t>
            </a:r>
            <a:endParaRPr kumimoji="0" lang="fr-FR" sz="2000" b="1" i="1" u="none" strike="noStrike" kern="0" cap="none" spc="-10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OREAL Essentielle Black" pitchFamily="2" charset="77"/>
              <a:ea typeface="Helvetica Neue"/>
              <a:cs typeface="Helvetica Neue"/>
              <a:sym typeface="Helvetica Neue Medium"/>
            </a:endParaRPr>
          </a:p>
        </p:txBody>
      </p:sp>
      <p:sp>
        <p:nvSpPr>
          <p:cNvPr id="10" name="/MEDIA Brands Shape fabric of culture">
            <a:extLst>
              <a:ext uri="{FF2B5EF4-FFF2-40B4-BE49-F238E27FC236}">
                <a16:creationId xmlns:a16="http://schemas.microsoft.com/office/drawing/2014/main" id="{E6CE046C-9294-1CB8-22B9-D0DE3C75730B}"/>
              </a:ext>
            </a:extLst>
          </p:cNvPr>
          <p:cNvSpPr txBox="1"/>
          <p:nvPr/>
        </p:nvSpPr>
        <p:spPr>
          <a:xfrm>
            <a:off x="1649781" y="4526280"/>
            <a:ext cx="5669280" cy="12801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25400" tIns="25400" rIns="25400" bIns="25400" anchor="t">
            <a:spAutoFit/>
          </a:bodyPr>
          <a:lstStyle/>
          <a:p>
            <a:pPr marL="0" marR="0" lvl="0" indent="0" algn="l" defTabSz="1219169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900" spc="-245">
                <a:gradFill flip="none" rotWithShape="1">
                  <a:gsLst>
                    <a:gs pos="0">
                      <a:srgbClr val="F3B24B"/>
                    </a:gs>
                    <a:gs pos="100000">
                      <a:srgbClr val="E73F65"/>
                    </a:gs>
                  </a:gsLst>
                  <a:lin ang="5400000" scaled="0"/>
                </a:gradFill>
                <a:latin typeface="LOREAL Essentielle Black"/>
                <a:ea typeface="LOREAL Essentielle Black"/>
                <a:cs typeface="LOREAL Essentielle Black"/>
                <a:sym typeface="LOREAL Essentielle Black"/>
              </a:defRPr>
            </a:pPr>
            <a:r>
              <a:rPr kumimoji="0" lang="fr-FR" sz="2200" b="1" i="0" u="none" strike="noStrike" kern="0" cap="none" spc="-123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OREAL Essentielle Black" pitchFamily="2" charset="77"/>
                <a:ea typeface="LOREAL Essentielle Black"/>
                <a:cs typeface="LOREAL Essentielle Black"/>
                <a:sym typeface="LOREAL Essentielle Black"/>
              </a:rPr>
              <a:t>WORKSHOP 2</a:t>
            </a:r>
            <a:br>
              <a:rPr kumimoji="0" lang="fr-FR" sz="2200" b="1" i="0" u="none" strike="noStrike" kern="0" cap="none" spc="-123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OREAL Essentielle Black" pitchFamily="2" charset="77"/>
                <a:ea typeface="LOREAL Essentielle Black"/>
                <a:cs typeface="LOREAL Essentielle Black"/>
                <a:sym typeface="LOREAL Essentielle Black"/>
              </a:rPr>
            </a:br>
            <a:r>
              <a:rPr kumimoji="0" lang="fr-FR" sz="2200" b="1" i="0" u="none" strike="noStrike" kern="0" cap="none" spc="-123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OREAL Essentielle Black" pitchFamily="2" charset="77"/>
                <a:ea typeface="LOREAL Essentielle Black"/>
                <a:cs typeface="LOREAL Essentielle Black"/>
                <a:sym typeface="LOREAL Essentielle Black"/>
              </a:rPr>
              <a:t>NOT SCHEDULED</a:t>
            </a:r>
            <a:br>
              <a:rPr kumimoji="0" lang="fr-FR" sz="1200" b="0" i="0" u="none" strike="noStrike" kern="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OREAL Essentielle Light" pitchFamily="2" charset="77"/>
                <a:ea typeface="LOREAL Essentielle Black"/>
                <a:cs typeface="LOREAL Essentielle Black"/>
                <a:sym typeface="LOREAL Essentielle Black"/>
              </a:rPr>
            </a:br>
            <a:r>
              <a:rPr kumimoji="0" lang="fr-FR" sz="1200" b="0" i="0" u="none" strike="noStrike" kern="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OREAL Essentielle Light" pitchFamily="2" charset="77"/>
                <a:ea typeface="LOREAL Essentielle Black"/>
                <a:cs typeface="LOREAL Essentielle Black"/>
                <a:sym typeface="LOREAL Essentielle Black"/>
              </a:rPr>
              <a:t>Open: does someone else hold final say for Canada?</a:t>
            </a:r>
            <a:endParaRPr kumimoji="0" lang="fr-FR" sz="1600" b="0" i="0" u="none" strike="noStrike" kern="0" cap="none" spc="-10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OREAL Essentielle Light" pitchFamily="2" charset="77"/>
              <a:ea typeface="LOREAL Essentielle Black"/>
              <a:cs typeface="LOREAL Essentielle Black"/>
              <a:sym typeface="LOREAL Essentielle"/>
            </a:endParaRPr>
          </a:p>
        </p:txBody>
      </p:sp>
      <p:sp>
        <p:nvSpPr>
          <p:cNvPr id="11" name="Rectangle : coins arrondis 7">
            <a:extLst>
              <a:ext uri="{FF2B5EF4-FFF2-40B4-BE49-F238E27FC236}">
                <a16:creationId xmlns:a16="http://schemas.microsoft.com/office/drawing/2014/main" id="{BF8B4611-0343-F4BA-9115-C598183B9745}"/>
              </a:ext>
            </a:extLst>
          </p:cNvPr>
          <p:cNvSpPr/>
          <p:nvPr/>
        </p:nvSpPr>
        <p:spPr>
          <a:xfrm>
            <a:off x="1006075" y="4526280"/>
            <a:ext cx="533465" cy="533465"/>
          </a:xfrm>
          <a:prstGeom prst="roundRect">
            <a:avLst/>
          </a:prstGeom>
          <a:solidFill>
            <a:srgbClr val="1738CA"/>
          </a:solidFill>
          <a:ln w="12700" cap="flat">
            <a:noFill/>
            <a:miter lim="400000"/>
          </a:ln>
          <a:effectLst/>
          <a:sp3d/>
        </p:spPr>
        <p:txBody>
          <a:bodyPr rot="0" spcFirstLastPara="1" vertOverflow="overflow" horzOverflow="overflow" vert="horz" wrap="square" lIns="25400" tIns="25400" rIns="25400" bIns="25400" numCol="1" spcCol="38100" rtlCol="0" anchor="ctr">
            <a:noAutofit/>
          </a:bodyPr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1" u="none" strike="noStrike" kern="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OREAL Essentielle Light" pitchFamily="2" charset="77"/>
                <a:ea typeface="Helvetica Neue"/>
                <a:cs typeface="Helvetica Neue"/>
                <a:sym typeface="LOREAL Essentielle Light"/>
              </a:rPr>
              <a:t>I </a:t>
            </a:r>
            <a:r>
              <a:rPr kumimoji="0" lang="fr-FR" sz="2000" b="1" i="1" u="none" strike="noStrike" kern="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OREAL Essentielle Black" pitchFamily="2" charset="77"/>
                <a:ea typeface="Helvetica Neue"/>
                <a:cs typeface="Helvetica Neue"/>
                <a:sym typeface="LOREAL Essentielle Light"/>
              </a:rPr>
              <a:t>3</a:t>
            </a:r>
            <a:endParaRPr kumimoji="0" lang="fr-FR" sz="2000" b="1" i="1" u="none" strike="noStrike" kern="0" cap="none" spc="-10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OREAL Essentielle Black" pitchFamily="2" charset="77"/>
              <a:ea typeface="Helvetica Neue"/>
              <a:cs typeface="Helvetica Neue"/>
              <a:sym typeface="Helvetica Neue Medium"/>
            </a:endParaRPr>
          </a:p>
        </p:txBody>
      </p:sp>
      <p:sp>
        <p:nvSpPr>
          <p:cNvPr id="40" name="Title">
            <a:extLst>
              <a:ext uri="{FF2B5EF4-FFF2-40B4-BE49-F238E27FC236}">
                <a16:creationId xmlns:a16="http://schemas.microsoft.com/office/drawing/2014/main" id="{6AB67982-73F2-0E16-D147-DA38C5E61D12}"/>
              </a:ext>
            </a:extLst>
          </p:cNvPr>
          <p:cNvSpPr txBox="1"/>
          <p:nvPr/>
        </p:nvSpPr>
        <p:spPr>
          <a:xfrm>
            <a:off x="335126" y="366972"/>
            <a:ext cx="5488362" cy="5942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t">
            <a:normAutofit lnSpcReduction="10000"/>
          </a:bodyPr>
          <a:lstStyle/>
          <a:p>
            <a:pPr marL="0" marR="0" lvl="0" indent="0" algn="l" defTabSz="1219169" rtl="0" eaLnBrk="1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900" spc="-245">
                <a:gradFill flip="none" rotWithShape="1">
                  <a:gsLst>
                    <a:gs pos="0">
                      <a:srgbClr val="F3B24B"/>
                    </a:gs>
                    <a:gs pos="100000">
                      <a:srgbClr val="E73F65"/>
                    </a:gs>
                  </a:gsLst>
                  <a:lin ang="5400000" scaled="0"/>
                </a:gradFill>
                <a:latin typeface="LOREAL Essentielle Black"/>
                <a:ea typeface="LOREAL Essentielle Black"/>
                <a:cs typeface="LOREAL Essentielle Black"/>
                <a:sym typeface="LOREAL Essentielle Black"/>
              </a:defRPr>
            </a:pPr>
            <a:r>
              <a:rPr kumimoji="0" lang="fr-FR" sz="1600" b="1" i="1" u="none" strike="noStrike" kern="0" cap="none" spc="-100" normalizeH="0" baseline="0" noProof="0">
                <a:ln>
                  <a:noFill/>
                </a:ln>
                <a:solidFill>
                  <a:srgbClr val="1738CA"/>
                </a:solidFill>
                <a:effectLst/>
                <a:uLnTx/>
                <a:uFillTx/>
                <a:latin typeface="LOREAL Essentielle Black" pitchFamily="2" charset="77"/>
                <a:ea typeface="LOREAL Essentielle Light"/>
                <a:cs typeface="LOREAL Essentielle Light"/>
                <a:sym typeface="LOREAL Essentielle Light"/>
              </a:rPr>
              <a:t>I</a:t>
            </a:r>
            <a:r>
              <a:rPr kumimoji="0" lang="fr-FR" sz="1600" b="0" i="1" u="none" strike="noStrike" kern="0" cap="none" spc="-100" normalizeH="0" baseline="0" noProof="0">
                <a:ln>
                  <a:noFill/>
                </a:ln>
                <a:solidFill>
                  <a:srgbClr val="1738CA"/>
                </a:solidFill>
                <a:effectLst/>
                <a:uLnTx/>
                <a:uFillTx/>
                <a:latin typeface="LOREAL Essentielle Light"/>
                <a:ea typeface="LOREAL Essentielle Light"/>
                <a:cs typeface="LOREAL Essentielle Light"/>
                <a:sym typeface="LOREAL Essentielle Light"/>
              </a:rPr>
              <a:t> </a:t>
            </a:r>
            <a:r>
              <a:rPr kumimoji="0" lang="fr-FR" sz="1600" b="0" i="0" u="none" strike="noStrike" kern="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OREAL Essentielle Light"/>
                <a:ea typeface="LOREAL Essentielle Light"/>
                <a:cs typeface="LOREAL Essentielle Light"/>
                <a:sym typeface="LOREAL Essentielle Light"/>
              </a:rPr>
              <a:t>RENOVATE  </a:t>
            </a:r>
            <a:br>
              <a:rPr kumimoji="0" sz="2450" b="0" i="0" u="none" strike="noStrike" kern="0" cap="none" spc="-123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OREAL Essentielle Light"/>
                <a:ea typeface="LOREAL Essentielle Light"/>
                <a:cs typeface="LOREAL Essentielle Light"/>
                <a:sym typeface="LOREAL Essentielle Light"/>
              </a:rPr>
            </a:br>
            <a:r>
              <a:rPr kumimoji="0" sz="2450" b="1" i="0" u="none" strike="noStrike" kern="0" cap="all" spc="-123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OREAL Essentielle Black" pitchFamily="2" charset="77"/>
                <a:ea typeface="LOREAL Essentielle"/>
                <a:cs typeface="LOREAL Essentielle"/>
                <a:sym typeface="LOREAL Essentielle"/>
              </a:rPr>
              <a:t>RISKS &amp; OPEN POINTS</a:t>
            </a:r>
          </a:p>
        </p:txBody>
      </p:sp>
    </p:spTree>
    <p:extLst>
      <p:ext uri="{BB962C8B-B14F-4D97-AF65-F5344CB8AC3E}">
        <p14:creationId xmlns:p14="http://schemas.microsoft.com/office/powerpoint/2010/main" val="31593673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>
            <a:extLst>
              <a:ext uri="{FF2B5EF4-FFF2-40B4-BE49-F238E27FC236}">
                <a16:creationId xmlns:a16="http://schemas.microsoft.com/office/drawing/2014/main" id="{4A88D9EF-A5BF-B942-6C53-71ED7ED6CD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1250" y="81280"/>
            <a:ext cx="1583160" cy="44107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309688F-A0C5-B8DF-33D1-B4602F02E8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5129" y="6079050"/>
            <a:ext cx="1228837" cy="670660"/>
          </a:xfrm>
          <a:prstGeom prst="rect">
            <a:avLst/>
          </a:prstGeom>
        </p:spPr>
      </p:pic>
      <p:sp>
        <p:nvSpPr>
          <p:cNvPr id="2" name="/MEDIA Brands Shape fabric of culture">
            <a:extLst>
              <a:ext uri="{FF2B5EF4-FFF2-40B4-BE49-F238E27FC236}">
                <a16:creationId xmlns:a16="http://schemas.microsoft.com/office/drawing/2014/main" id="{6AB67982-73F2-0E16-D147-DA38C5E61D12}"/>
              </a:ext>
            </a:extLst>
          </p:cNvPr>
          <p:cNvSpPr txBox="1"/>
          <p:nvPr/>
        </p:nvSpPr>
        <p:spPr>
          <a:xfrm>
            <a:off x="335126" y="366972"/>
            <a:ext cx="5488362" cy="5942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t">
            <a:normAutofit lnSpcReduction="10000"/>
          </a:bodyPr>
          <a:lstStyle/>
          <a:p>
            <a:pPr marL="0" marR="0" lvl="0" indent="0" algn="l" defTabSz="1219169" rtl="0" eaLnBrk="1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900" spc="-245">
                <a:gradFill flip="none" rotWithShape="1">
                  <a:gsLst>
                    <a:gs pos="0">
                      <a:srgbClr val="F3B24B"/>
                    </a:gs>
                    <a:gs pos="100000">
                      <a:srgbClr val="E73F65"/>
                    </a:gs>
                  </a:gsLst>
                  <a:lin ang="5400000" scaled="0"/>
                </a:gradFill>
                <a:latin typeface="LOREAL Essentielle Black"/>
                <a:ea typeface="LOREAL Essentielle Black"/>
                <a:cs typeface="LOREAL Essentielle Black"/>
                <a:sym typeface="LOREAL Essentielle Black"/>
              </a:defRPr>
            </a:pPr>
            <a:r>
              <a:rPr kumimoji="0" lang="fr-FR" sz="1600" b="1" i="1" u="none" strike="noStrike" kern="0" cap="none" spc="-100" normalizeH="0" baseline="0" noProof="0">
                <a:ln>
                  <a:noFill/>
                </a:ln>
                <a:solidFill>
                  <a:srgbClr val="1738CA"/>
                </a:solidFill>
                <a:effectLst/>
                <a:uLnTx/>
                <a:uFillTx/>
                <a:latin typeface="LOREAL Essentielle Black" pitchFamily="2" charset="77"/>
                <a:ea typeface="LOREAL Essentielle Light"/>
                <a:cs typeface="LOREAL Essentielle Light"/>
                <a:sym typeface="LOREAL Essentielle Light"/>
              </a:rPr>
              <a:t>I</a:t>
            </a:r>
            <a:r>
              <a:rPr kumimoji="0" lang="fr-FR" sz="1600" b="0" i="1" u="none" strike="noStrike" kern="0" cap="none" spc="-100" normalizeH="0" baseline="0" noProof="0">
                <a:ln>
                  <a:noFill/>
                </a:ln>
                <a:solidFill>
                  <a:srgbClr val="1738CA"/>
                </a:solidFill>
                <a:effectLst/>
                <a:uLnTx/>
                <a:uFillTx/>
                <a:latin typeface="LOREAL Essentielle Light"/>
                <a:ea typeface="LOREAL Essentielle Light"/>
                <a:cs typeface="LOREAL Essentielle Light"/>
                <a:sym typeface="LOREAL Essentielle Light"/>
              </a:rPr>
              <a:t> </a:t>
            </a:r>
            <a:r>
              <a:rPr kumimoji="0" lang="fr-FR" sz="1600" b="0" i="0" u="none" strike="noStrike" kern="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OREAL Essentielle Light"/>
                <a:ea typeface="LOREAL Essentielle Light"/>
                <a:cs typeface="LOREAL Essentielle Light"/>
                <a:sym typeface="LOREAL Essentielle Light"/>
              </a:rPr>
              <a:t>RENOVATE  </a:t>
            </a:r>
            <a:br>
              <a:rPr kumimoji="0" sz="2450" b="0" i="0" u="none" strike="noStrike" kern="0" cap="none" spc="-123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OREAL Essentielle Light"/>
                <a:ea typeface="LOREAL Essentielle Light"/>
                <a:cs typeface="LOREAL Essentielle Light"/>
                <a:sym typeface="LOREAL Essentielle Light"/>
              </a:rPr>
            </a:br>
            <a:r>
              <a:rPr kumimoji="0" sz="2450" b="1" i="0" u="none" strike="noStrike" kern="0" cap="all" spc="-123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OREAL Essentielle Black" pitchFamily="2" charset="77"/>
                <a:ea typeface="LOREAL Essentielle"/>
                <a:cs typeface="LOREAL Essentielle"/>
                <a:sym typeface="LOREAL Essentielle"/>
              </a:rPr>
              <a:t>NEXT STEPS</a:t>
            </a:r>
          </a:p>
        </p:txBody>
      </p:sp>
      <p:pic>
        <p:nvPicPr>
          <p:cNvPr id="6" name="vidéo-collée.png" descr="vidéo-collée.png">
            <a:extLst>
              <a:ext uri="{FF2B5EF4-FFF2-40B4-BE49-F238E27FC236}">
                <a16:creationId xmlns:a16="http://schemas.microsoft.com/office/drawing/2014/main" id="{6DA78AC9-B3F6-07FC-F946-326ACEFE320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8949" t="4910" r="1752"/>
          <a:stretch/>
        </p:blipFill>
        <p:spPr>
          <a:xfrm>
            <a:off x="335126" y="988616"/>
            <a:ext cx="5760874" cy="5190944"/>
          </a:xfrm>
          <a:prstGeom prst="roundRect">
            <a:avLst>
              <a:gd name="adj" fmla="val 2621"/>
            </a:avLst>
          </a:prstGeom>
          <a:ln w="12700">
            <a:miter lim="400000"/>
          </a:ln>
        </p:spPr>
      </p:pic>
      <p:sp>
        <p:nvSpPr>
          <p:cNvPr id="7" name="/MEDIA Brands Shape fabric of culture">
            <a:extLst>
              <a:ext uri="{FF2B5EF4-FFF2-40B4-BE49-F238E27FC236}">
                <a16:creationId xmlns:a16="http://schemas.microsoft.com/office/drawing/2014/main" id="{F03739DD-2E81-D4D2-8779-AD45540D9CD2}"/>
              </a:ext>
            </a:extLst>
          </p:cNvPr>
          <p:cNvSpPr txBox="1"/>
          <p:nvPr/>
        </p:nvSpPr>
        <p:spPr>
          <a:xfrm>
            <a:off x="7088055" y="1188720"/>
            <a:ext cx="4937760" cy="10515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25400" tIns="25400" rIns="25400" bIns="25400" anchor="t">
            <a:spAutoFit/>
          </a:bodyPr>
          <a:lstStyle/>
          <a:p>
            <a:pPr marL="0" marR="0" lvl="0" indent="0" algn="l" defTabSz="1219169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900" spc="-245">
                <a:gradFill flip="none" rotWithShape="1">
                  <a:gsLst>
                    <a:gs pos="0">
                      <a:srgbClr val="F3B24B"/>
                    </a:gs>
                    <a:gs pos="100000">
                      <a:srgbClr val="E73F65"/>
                    </a:gs>
                  </a:gsLst>
                  <a:lin ang="5400000" scaled="0"/>
                </a:gradFill>
                <a:latin typeface="LOREAL Essentielle Black"/>
                <a:ea typeface="LOREAL Essentielle Black"/>
                <a:cs typeface="LOREAL Essentielle Black"/>
                <a:sym typeface="LOREAL Essentielle Black"/>
              </a:defRPr>
            </a:pPr>
            <a:r>
              <a:rPr kumimoji="0" lang="fr-FR" sz="2200" b="1" i="0" u="none" strike="noStrike" kern="0" cap="none" spc="-123" normalizeH="0" baseline="0" noProof="0">
                <a:ln>
                  <a:noFill/>
                </a:ln>
                <a:solidFill>
                  <a:srgbClr val="1738CA"/>
                </a:solidFill>
                <a:effectLst/>
                <a:uLnTx/>
                <a:uFillTx/>
                <a:latin typeface="LOREAL Essentielle Black" pitchFamily="2" charset="77"/>
                <a:ea typeface="LOREAL Essentielle Black"/>
                <a:cs typeface="LOREAL Essentielle Black"/>
                <a:sym typeface="LOREAL Essentielle Black"/>
              </a:rPr>
              <a:t>CANADA POSITION</a:t>
            </a:r>
            <a:br>
              <a:rPr kumimoji="0" lang="fr-FR" sz="2200" b="1" i="0" u="none" strike="noStrike" kern="0" cap="none" spc="-123" normalizeH="0" baseline="0" noProof="0">
                <a:ln>
                  <a:noFill/>
                </a:ln>
                <a:solidFill>
                  <a:srgbClr val="1738CA"/>
                </a:solidFill>
                <a:effectLst/>
                <a:uLnTx/>
                <a:uFillTx/>
                <a:latin typeface="LOREAL Essentielle Black" pitchFamily="2" charset="77"/>
                <a:ea typeface="LOREAL Essentielle Black"/>
                <a:cs typeface="LOREAL Essentielle Black"/>
                <a:sym typeface="LOREAL Essentielle Black"/>
              </a:rPr>
            </a:br>
            <a:r>
              <a:rPr kumimoji="0" lang="fr-FR" sz="2200" b="1" i="0" u="none" strike="noStrike" kern="0" cap="none" spc="-123" normalizeH="0" baseline="0" noProof="0">
                <a:ln>
                  <a:noFill/>
                </a:ln>
                <a:solidFill>
                  <a:srgbClr val="1738CA"/>
                </a:solidFill>
                <a:effectLst/>
                <a:uLnTx/>
                <a:uFillTx/>
                <a:latin typeface="LOREAL Essentielle Black" pitchFamily="2" charset="77"/>
                <a:ea typeface="LOREAL Essentielle Black"/>
                <a:cs typeface="LOREAL Essentielle Black"/>
                <a:sym typeface="LOREAL Essentielle Black"/>
              </a:rPr>
              <a:t>PER GOLD QUESTION</a:t>
            </a:r>
            <a:br>
              <a:rPr kumimoji="0" lang="fr-FR" sz="1200" b="0" i="0" u="none" strike="noStrike" kern="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OREAL Essentielle Light" pitchFamily="2" charset="77"/>
                <a:ea typeface="LOREAL Essentielle Black"/>
                <a:cs typeface="LOREAL Essentielle Black"/>
                <a:sym typeface="LOREAL Essentielle Black"/>
              </a:rPr>
            </a:br>
            <a:r>
              <a:rPr kumimoji="0" lang="fr-FR" sz="1200" b="0" i="0" u="none" strike="noStrike" kern="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OREAL Essentielle Light" pitchFamily="2" charset="77"/>
                <a:ea typeface="LOREAL Essentielle Black"/>
                <a:cs typeface="LOREAL Essentielle Black"/>
                <a:sym typeface="LOREAL Essentielle Black"/>
              </a:rPr>
              <a:t>Incl. rework cost on Canada dashboards · before workshop 2</a:t>
            </a:r>
            <a:endParaRPr kumimoji="0" lang="fr-FR" sz="1600" b="0" i="0" u="none" strike="noStrike" kern="0" cap="none" spc="-10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OREAL Essentielle Light" pitchFamily="2" charset="77"/>
              <a:ea typeface="LOREAL Essentielle Black"/>
              <a:cs typeface="LOREAL Essentielle Black"/>
              <a:sym typeface="LOREAL Essentielle"/>
            </a:endParaRPr>
          </a:p>
        </p:txBody>
      </p:sp>
      <p:sp>
        <p:nvSpPr>
          <p:cNvPr id="8" name="Rectangle : coins arrondis 1">
            <a:extLst>
              <a:ext uri="{FF2B5EF4-FFF2-40B4-BE49-F238E27FC236}">
                <a16:creationId xmlns:a16="http://schemas.microsoft.com/office/drawing/2014/main" id="{ACE7161A-4C0E-B1DD-E533-CED32CF22DC2}"/>
              </a:ext>
            </a:extLst>
          </p:cNvPr>
          <p:cNvSpPr/>
          <p:nvPr/>
        </p:nvSpPr>
        <p:spPr>
          <a:xfrm>
            <a:off x="6444349" y="1188720"/>
            <a:ext cx="533465" cy="533465"/>
          </a:xfrm>
          <a:prstGeom prst="roundRect">
            <a:avLst/>
          </a:prstGeom>
          <a:solidFill>
            <a:srgbClr val="1738CA"/>
          </a:solidFill>
          <a:ln w="12700" cap="flat">
            <a:noFill/>
            <a:miter lim="400000"/>
          </a:ln>
          <a:effectLst/>
          <a:sp3d/>
        </p:spPr>
        <p:txBody>
          <a:bodyPr rot="0" spcFirstLastPara="1" vertOverflow="overflow" horzOverflow="overflow" vert="horz" wrap="square" lIns="25400" tIns="25400" rIns="25400" bIns="25400" numCol="1" spcCol="38100" rtlCol="0" anchor="ctr">
            <a:noAutofit/>
          </a:bodyPr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1" u="none" strike="noStrike" kern="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OREAL Essentielle Light" pitchFamily="2" charset="77"/>
                <a:ea typeface="Helvetica Neue"/>
                <a:cs typeface="Helvetica Neue"/>
                <a:sym typeface="LOREAL Essentielle Light"/>
              </a:rPr>
              <a:t>I</a:t>
            </a:r>
            <a:r>
              <a:rPr kumimoji="0" lang="fr-FR" sz="2000" b="0" i="1" u="none" strike="noStrike" kern="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OREAL Essentielle Light" pitchFamily="2" charset="77"/>
                <a:ea typeface="LOREAL Essentielle Light"/>
                <a:cs typeface="LOREAL Essentielle Light"/>
                <a:sym typeface="LOREAL Essentielle Light"/>
              </a:rPr>
              <a:t> </a:t>
            </a:r>
            <a:r>
              <a:rPr kumimoji="0" lang="fr-FR" sz="2000" b="1" i="1" u="none" strike="noStrike" kern="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OREAL Essentielle Black" pitchFamily="2" charset="77"/>
                <a:ea typeface="LOREAL Essentielle Light"/>
                <a:cs typeface="LOREAL Essentielle Light"/>
                <a:sym typeface="LOREAL Essentielle Light"/>
              </a:rPr>
              <a:t>1</a:t>
            </a:r>
            <a:endParaRPr kumimoji="0" lang="fr-FR" sz="2000" b="1" i="1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OREAL Essentielle Black" pitchFamily="2" charset="77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/MEDIA Brands Shape fabric of culture">
            <a:extLst>
              <a:ext uri="{FF2B5EF4-FFF2-40B4-BE49-F238E27FC236}">
                <a16:creationId xmlns:a16="http://schemas.microsoft.com/office/drawing/2014/main" id="{E5D9CF9B-B0C3-552A-FDDB-481F578E6436}"/>
              </a:ext>
            </a:extLst>
          </p:cNvPr>
          <p:cNvSpPr txBox="1"/>
          <p:nvPr/>
        </p:nvSpPr>
        <p:spPr>
          <a:xfrm>
            <a:off x="7088055" y="2423160"/>
            <a:ext cx="4937760" cy="10515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25400" tIns="25400" rIns="25400" bIns="25400" anchor="t">
            <a:spAutoFit/>
          </a:bodyPr>
          <a:lstStyle/>
          <a:p>
            <a:pPr marL="0" marR="0" lvl="0" indent="0" algn="l" defTabSz="1219169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900" spc="-245">
                <a:gradFill flip="none" rotWithShape="1">
                  <a:gsLst>
                    <a:gs pos="0">
                      <a:srgbClr val="F3B24B"/>
                    </a:gs>
                    <a:gs pos="100000">
                      <a:srgbClr val="E73F65"/>
                    </a:gs>
                  </a:gsLst>
                  <a:lin ang="5400000" scaled="0"/>
                </a:gradFill>
                <a:latin typeface="LOREAL Essentielle Black"/>
                <a:ea typeface="LOREAL Essentielle Black"/>
                <a:cs typeface="LOREAL Essentielle Black"/>
                <a:sym typeface="LOREAL Essentielle Black"/>
              </a:defRPr>
            </a:pPr>
            <a:r>
              <a:rPr kumimoji="0" lang="fr-FR" sz="2200" b="1" i="0" u="none" strike="noStrike" kern="0" cap="none" spc="-123" normalizeH="0" baseline="0" noProof="0">
                <a:ln>
                  <a:noFill/>
                </a:ln>
                <a:solidFill>
                  <a:srgbClr val="1738CA"/>
                </a:solidFill>
                <a:effectLst/>
                <a:uLnTx/>
                <a:uFillTx/>
                <a:latin typeface="LOREAL Essentielle Black" pitchFamily="2" charset="77"/>
                <a:ea typeface="LOREAL Essentielle Black"/>
                <a:cs typeface="LOREAL Essentielle Black"/>
                <a:sym typeface="LOREAL Essentielle Black"/>
              </a:rPr>
              <a:t>30-MIN DECISION</a:t>
            </a:r>
            <a:br>
              <a:rPr kumimoji="0" lang="fr-FR" sz="2200" b="1" i="0" u="none" strike="noStrike" kern="0" cap="none" spc="-123" normalizeH="0" baseline="0" noProof="0">
                <a:ln>
                  <a:noFill/>
                </a:ln>
                <a:solidFill>
                  <a:srgbClr val="1738CA"/>
                </a:solidFill>
                <a:effectLst/>
                <a:uLnTx/>
                <a:uFillTx/>
                <a:latin typeface="LOREAL Essentielle Black" pitchFamily="2" charset="77"/>
                <a:ea typeface="LOREAL Essentielle Black"/>
                <a:cs typeface="LOREAL Essentielle Black"/>
                <a:sym typeface="LOREAL Essentielle Black"/>
              </a:rPr>
            </a:br>
            <a:r>
              <a:rPr kumimoji="0" lang="fr-FR" sz="2200" b="1" i="0" u="none" strike="noStrike" kern="0" cap="none" spc="-123" normalizeH="0" baseline="0" noProof="0">
                <a:ln>
                  <a:noFill/>
                </a:ln>
                <a:solidFill>
                  <a:srgbClr val="1738CA"/>
                </a:solidFill>
                <a:effectLst/>
                <a:uLnTx/>
                <a:uFillTx/>
                <a:latin typeface="LOREAL Essentielle Black" pitchFamily="2" charset="77"/>
                <a:ea typeface="LOREAL Essentielle Black"/>
                <a:cs typeface="LOREAL Essentielle Black"/>
                <a:sym typeface="LOREAL Essentielle Black"/>
              </a:rPr>
              <a:t>SLOT WITH DEEPTI</a:t>
            </a:r>
            <a:br>
              <a:rPr kumimoji="0" lang="fr-FR" sz="1200" b="0" i="0" u="none" strike="noStrike" kern="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OREAL Essentielle Light" pitchFamily="2" charset="77"/>
                <a:ea typeface="Helvetica Neue"/>
                <a:cs typeface="Helvetica Neue"/>
                <a:sym typeface="LOREAL Essentielle Black"/>
              </a:rPr>
            </a:br>
            <a:r>
              <a:rPr kumimoji="0" lang="fr-FR" sz="1200" b="0" i="0" u="none" strike="noStrike" kern="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OREAL Essentielle Light" pitchFamily="2" charset="77"/>
                <a:ea typeface="Helvetica Neue"/>
                <a:cs typeface="Helvetica Neue"/>
                <a:sym typeface="LOREAL Essentielle Black"/>
              </a:rPr>
              <a:t>Close Gold design questions with Canada input</a:t>
            </a:r>
          </a:p>
        </p:txBody>
      </p:sp>
      <p:sp>
        <p:nvSpPr>
          <p:cNvPr id="10" name="Rectangle : coins arrondis 3">
            <a:extLst>
              <a:ext uri="{FF2B5EF4-FFF2-40B4-BE49-F238E27FC236}">
                <a16:creationId xmlns:a16="http://schemas.microsoft.com/office/drawing/2014/main" id="{215AF80C-2A34-E41B-B806-5F0FD71A65AF}"/>
              </a:ext>
            </a:extLst>
          </p:cNvPr>
          <p:cNvSpPr/>
          <p:nvPr/>
        </p:nvSpPr>
        <p:spPr>
          <a:xfrm>
            <a:off x="6444349" y="2423160"/>
            <a:ext cx="533465" cy="533465"/>
          </a:xfrm>
          <a:prstGeom prst="roundRect">
            <a:avLst/>
          </a:prstGeom>
          <a:solidFill>
            <a:srgbClr val="1738CA"/>
          </a:solidFill>
          <a:ln w="12700" cap="flat">
            <a:noFill/>
            <a:miter lim="400000"/>
          </a:ln>
          <a:effectLst/>
          <a:sp3d/>
        </p:spPr>
        <p:txBody>
          <a:bodyPr rot="0" spcFirstLastPara="1" vertOverflow="overflow" horzOverflow="overflow" vert="horz" wrap="square" lIns="25400" tIns="25400" rIns="25400" bIns="25400" numCol="1" spcCol="38100" rtlCol="0" anchor="ctr">
            <a:noAutofit/>
          </a:bodyPr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1" u="none" strike="noStrike" kern="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OREAL Essentielle Light" pitchFamily="2" charset="77"/>
                <a:ea typeface="Helvetica Neue"/>
                <a:cs typeface="Helvetica Neue"/>
                <a:sym typeface="LOREAL Essentielle Light"/>
              </a:rPr>
              <a:t>I </a:t>
            </a:r>
            <a:r>
              <a:rPr kumimoji="0" lang="fr-FR" sz="2000" b="1" i="1" u="none" strike="noStrike" kern="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OREAL Essentielle Black" pitchFamily="2" charset="77"/>
                <a:ea typeface="Helvetica Neue"/>
                <a:cs typeface="Helvetica Neue"/>
                <a:sym typeface="LOREAL Essentielle Light"/>
              </a:rPr>
              <a:t>2</a:t>
            </a:r>
            <a:endParaRPr kumimoji="0" lang="fr-FR" sz="2000" b="1" i="1" u="none" strike="noStrike" kern="0" cap="none" spc="-10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OREAL Essentielle Black" pitchFamily="2" charset="77"/>
              <a:ea typeface="Helvetica Neue"/>
              <a:cs typeface="Helvetica Neue"/>
              <a:sym typeface="Helvetica Neue Medium"/>
            </a:endParaRPr>
          </a:p>
        </p:txBody>
      </p:sp>
      <p:sp>
        <p:nvSpPr>
          <p:cNvPr id="11" name="/MEDIA Brands Shape fabric of culture">
            <a:extLst>
              <a:ext uri="{FF2B5EF4-FFF2-40B4-BE49-F238E27FC236}">
                <a16:creationId xmlns:a16="http://schemas.microsoft.com/office/drawing/2014/main" id="{165F23BB-8AA5-DAF6-9852-6340998786C2}"/>
              </a:ext>
            </a:extLst>
          </p:cNvPr>
          <p:cNvSpPr txBox="1"/>
          <p:nvPr/>
        </p:nvSpPr>
        <p:spPr>
          <a:xfrm>
            <a:off x="7088055" y="3657600"/>
            <a:ext cx="4937760" cy="10515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25400" tIns="25400" rIns="25400" bIns="25400" anchor="t">
            <a:spAutoFit/>
          </a:bodyPr>
          <a:lstStyle/>
          <a:p>
            <a:pPr marL="0" marR="0" lvl="0" indent="0" algn="l" defTabSz="1219169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900" spc="-245">
                <a:gradFill flip="none" rotWithShape="1">
                  <a:gsLst>
                    <a:gs pos="0">
                      <a:srgbClr val="F3B24B"/>
                    </a:gs>
                    <a:gs pos="100000">
                      <a:srgbClr val="E73F65"/>
                    </a:gs>
                  </a:gsLst>
                  <a:lin ang="5400000" scaled="0"/>
                </a:gradFill>
                <a:latin typeface="LOREAL Essentielle Black"/>
                <a:ea typeface="LOREAL Essentielle Black"/>
                <a:cs typeface="LOREAL Essentielle Black"/>
                <a:sym typeface="LOREAL Essentielle Black"/>
              </a:defRPr>
            </a:pPr>
            <a:r>
              <a:rPr kumimoji="0" lang="fr-FR" sz="2200" b="1" i="0" u="none" strike="noStrike" kern="0" cap="none" spc="-123" normalizeH="0" baseline="0" noProof="0">
                <a:ln>
                  <a:noFill/>
                </a:ln>
                <a:solidFill>
                  <a:srgbClr val="1738CA"/>
                </a:solidFill>
                <a:effectLst/>
                <a:uLnTx/>
                <a:uFillTx/>
                <a:latin typeface="LOREAL Essentielle Black" pitchFamily="2" charset="77"/>
                <a:ea typeface="LOREAL Essentielle Black"/>
                <a:cs typeface="LOREAL Essentielle Black"/>
                <a:sym typeface="LOREAL Essentielle Black"/>
              </a:rPr>
              <a:t>KPI COVERAGE</a:t>
            </a:r>
            <a:br>
              <a:rPr kumimoji="0" lang="fr-FR" sz="2200" b="1" i="0" u="none" strike="noStrike" kern="0" cap="none" spc="-123" normalizeH="0" baseline="0" noProof="0">
                <a:ln>
                  <a:noFill/>
                </a:ln>
                <a:solidFill>
                  <a:srgbClr val="1738CA"/>
                </a:solidFill>
                <a:effectLst/>
                <a:uLnTx/>
                <a:uFillTx/>
                <a:latin typeface="LOREAL Essentielle Black" pitchFamily="2" charset="77"/>
                <a:ea typeface="LOREAL Essentielle Black"/>
                <a:cs typeface="LOREAL Essentielle Black"/>
                <a:sym typeface="LOREAL Essentielle Black"/>
              </a:rPr>
            </a:br>
            <a:r>
              <a:rPr kumimoji="0" lang="fr-FR" sz="2200" b="1" i="0" u="none" strike="noStrike" kern="0" cap="none" spc="-123" normalizeH="0" baseline="0" noProof="0">
                <a:ln>
                  <a:noFill/>
                </a:ln>
                <a:solidFill>
                  <a:srgbClr val="1738CA"/>
                </a:solidFill>
                <a:effectLst/>
                <a:uLnTx/>
                <a:uFillTx/>
                <a:latin typeface="LOREAL Essentielle Black" pitchFamily="2" charset="77"/>
                <a:ea typeface="LOREAL Essentielle Black"/>
                <a:cs typeface="LOREAL Essentielle Black"/>
                <a:sym typeface="LOREAL Essentielle Black"/>
              </a:rPr>
              <a:t>CHECK</a:t>
            </a:r>
            <a:br>
              <a:rPr kumimoji="0" lang="fr-FR" sz="1200" b="0" i="0" u="none" strike="noStrike" kern="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OREAL Essentielle Light" pitchFamily="2" charset="77"/>
                <a:ea typeface="LOREAL Essentielle Black"/>
                <a:cs typeface="LOREAL Essentielle Black"/>
                <a:sym typeface="LOREAL Essentielle Black"/>
              </a:rPr>
            </a:br>
            <a:r>
              <a:rPr kumimoji="0" lang="fr-FR" sz="1200" b="0" i="0" u="none" strike="noStrike" kern="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OREAL Essentielle Light" pitchFamily="2" charset="77"/>
                <a:ea typeface="LOREAL Essentielle Black"/>
                <a:cs typeface="LOREAL Essentielle Black"/>
                <a:sym typeface="LOREAL Essentielle Black"/>
              </a:rPr>
              <a:t>All Canada reporting KPIs present in the workbook</a:t>
            </a:r>
            <a:endParaRPr kumimoji="0" lang="fr-FR" sz="1600" b="0" i="0" u="none" strike="noStrike" kern="0" cap="none" spc="-10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OREAL Essentielle Light" pitchFamily="2" charset="77"/>
              <a:ea typeface="LOREAL Essentielle Black"/>
              <a:cs typeface="LOREAL Essentielle Black"/>
              <a:sym typeface="LOREAL Essentielle"/>
            </a:endParaRPr>
          </a:p>
        </p:txBody>
      </p:sp>
      <p:sp>
        <p:nvSpPr>
          <p:cNvPr id="12" name="Rectangle : coins arrondis 7">
            <a:extLst>
              <a:ext uri="{FF2B5EF4-FFF2-40B4-BE49-F238E27FC236}">
                <a16:creationId xmlns:a16="http://schemas.microsoft.com/office/drawing/2014/main" id="{D5A0A50B-6FF2-FDF6-EDCD-688800118650}"/>
              </a:ext>
            </a:extLst>
          </p:cNvPr>
          <p:cNvSpPr/>
          <p:nvPr/>
        </p:nvSpPr>
        <p:spPr>
          <a:xfrm>
            <a:off x="6444349" y="3657600"/>
            <a:ext cx="533465" cy="533465"/>
          </a:xfrm>
          <a:prstGeom prst="roundRect">
            <a:avLst/>
          </a:prstGeom>
          <a:solidFill>
            <a:srgbClr val="1738CA"/>
          </a:solidFill>
          <a:ln w="12700" cap="flat">
            <a:noFill/>
            <a:miter lim="400000"/>
          </a:ln>
          <a:effectLst/>
          <a:sp3d/>
        </p:spPr>
        <p:txBody>
          <a:bodyPr rot="0" spcFirstLastPara="1" vertOverflow="overflow" horzOverflow="overflow" vert="horz" wrap="square" lIns="25400" tIns="25400" rIns="25400" bIns="25400" numCol="1" spcCol="38100" rtlCol="0" anchor="ctr">
            <a:noAutofit/>
          </a:bodyPr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1" u="none" strike="noStrike" kern="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OREAL Essentielle Light" pitchFamily="2" charset="77"/>
                <a:ea typeface="Helvetica Neue"/>
                <a:cs typeface="Helvetica Neue"/>
                <a:sym typeface="LOREAL Essentielle Light"/>
              </a:rPr>
              <a:t>I </a:t>
            </a:r>
            <a:r>
              <a:rPr kumimoji="0" lang="fr-FR" sz="2000" b="1" i="1" u="none" strike="noStrike" kern="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OREAL Essentielle Black" pitchFamily="2" charset="77"/>
                <a:ea typeface="Helvetica Neue"/>
                <a:cs typeface="Helvetica Neue"/>
                <a:sym typeface="LOREAL Essentielle Light"/>
              </a:rPr>
              <a:t>3</a:t>
            </a:r>
            <a:endParaRPr kumimoji="0" lang="fr-FR" sz="2000" b="1" i="1" u="none" strike="noStrike" kern="0" cap="none" spc="-10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OREAL Essentielle Black" pitchFamily="2" charset="77"/>
              <a:ea typeface="Helvetica Neue"/>
              <a:cs typeface="Helvetica Neue"/>
              <a:sym typeface="Helvetica Neue Medium"/>
            </a:endParaRPr>
          </a:p>
        </p:txBody>
      </p:sp>
      <p:sp>
        <p:nvSpPr>
          <p:cNvPr id="41" name="/MEDIA Brands Shape fabric of culture">
            <a:extLst>
              <a:ext uri="{FF2B5EF4-FFF2-40B4-BE49-F238E27FC236}">
                <a16:creationId xmlns:a16="http://schemas.microsoft.com/office/drawing/2014/main" id="{165F23BB-8AA5-DAF6-9852-6340998786C2}"/>
              </a:ext>
            </a:extLst>
          </p:cNvPr>
          <p:cNvSpPr txBox="1"/>
          <p:nvPr/>
        </p:nvSpPr>
        <p:spPr>
          <a:xfrm>
            <a:off x="7088055" y="4892040"/>
            <a:ext cx="4937760" cy="10515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25400" tIns="25400" rIns="25400" bIns="25400" anchor="t">
            <a:spAutoFit/>
          </a:bodyPr>
          <a:lstStyle/>
          <a:p>
            <a:pPr marL="0" marR="0" lvl="0" indent="0" algn="l" defTabSz="1219169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900" spc="-245">
                <a:gradFill flip="none" rotWithShape="1">
                  <a:gsLst>
                    <a:gs pos="0">
                      <a:srgbClr val="F3B24B"/>
                    </a:gs>
                    <a:gs pos="100000">
                      <a:srgbClr val="E73F65"/>
                    </a:gs>
                  </a:gsLst>
                  <a:lin ang="5400000" scaled="0"/>
                </a:gradFill>
                <a:latin typeface="LOREAL Essentielle Black"/>
                <a:ea typeface="LOREAL Essentielle Black"/>
                <a:cs typeface="LOREAL Essentielle Black"/>
                <a:sym typeface="LOREAL Essentielle Black"/>
              </a:defRPr>
            </a:pPr>
            <a:r>
              <a:rPr kumimoji="0" lang="fr-FR" sz="2200" b="1" i="0" u="none" strike="noStrike" kern="0" cap="none" spc="-123" normalizeH="0" baseline="0" noProof="0">
                <a:ln>
                  <a:noFill/>
                </a:ln>
                <a:solidFill>
                  <a:srgbClr val="1738CA"/>
                </a:solidFill>
                <a:effectLst/>
                <a:uLnTx/>
                <a:uFillTx/>
                <a:latin typeface="LOREAL Essentielle Black" pitchFamily="2" charset="77"/>
                <a:ea typeface="LOREAL Essentielle Black"/>
                <a:cs typeface="LOREAL Essentielle Black"/>
                <a:sym typeface="LOREAL Essentielle Black"/>
              </a:rPr>
              <a:t>CHASE</a:t>
            </a:r>
            <a:br>
              <a:rPr kumimoji="0" lang="fr-FR" sz="2200" b="1" i="0" u="none" strike="noStrike" kern="0" cap="none" spc="-123" normalizeH="0" baseline="0" noProof="0">
                <a:ln>
                  <a:noFill/>
                </a:ln>
                <a:solidFill>
                  <a:srgbClr val="1738CA"/>
                </a:solidFill>
                <a:effectLst/>
                <a:uLnTx/>
                <a:uFillTx/>
                <a:latin typeface="LOREAL Essentielle Black" pitchFamily="2" charset="77"/>
                <a:ea typeface="LOREAL Essentielle Black"/>
                <a:cs typeface="LOREAL Essentielle Black"/>
                <a:sym typeface="LOREAL Essentielle Black"/>
              </a:rPr>
            </a:br>
            <a:r>
              <a:rPr kumimoji="0" lang="fr-FR" sz="2200" b="1" i="0" u="none" strike="noStrike" kern="0" cap="none" spc="-123" normalizeH="0" baseline="0" noProof="0">
                <a:ln>
                  <a:noFill/>
                </a:ln>
                <a:solidFill>
                  <a:srgbClr val="1738CA"/>
                </a:solidFill>
                <a:effectLst/>
                <a:uLnTx/>
                <a:uFillTx/>
                <a:latin typeface="LOREAL Essentielle Black" pitchFamily="2" charset="77"/>
                <a:ea typeface="LOREAL Essentielle Black"/>
                <a:cs typeface="LOREAL Essentielle Black"/>
                <a:sym typeface="LOREAL Essentielle Black"/>
              </a:rPr>
              <a:t>DATA TEAMS</a:t>
            </a:r>
            <a:br>
              <a:rPr kumimoji="0" lang="fr-FR" sz="1200" b="0" i="0" u="none" strike="noStrike" kern="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OREAL Essentielle Light" pitchFamily="2" charset="77"/>
                <a:ea typeface="LOREAL Essentielle Black"/>
                <a:cs typeface="LOREAL Essentielle Black"/>
                <a:sym typeface="LOREAL Essentielle Black"/>
              </a:rPr>
            </a:br>
            <a:r>
              <a:rPr kumimoji="0" lang="fr-FR" sz="1200" b="0" i="0" u="none" strike="noStrike" kern="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OREAL Essentielle Light" pitchFamily="2" charset="77"/>
                <a:ea typeface="LOREAL Essentielle Black"/>
                <a:cs typeface="LOREAL Essentielle Black"/>
                <a:sym typeface="LOREAL Essentielle Black"/>
              </a:rPr>
              <a:t>Sandra (SFMC, Attentive), Thomas &amp; Oli (Genie)</a:t>
            </a:r>
            <a:endParaRPr kumimoji="0" lang="fr-FR" sz="1600" b="0" i="0" u="none" strike="noStrike" kern="0" cap="none" spc="-10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OREAL Essentielle Light" pitchFamily="2" charset="77"/>
              <a:ea typeface="LOREAL Essentielle Black"/>
              <a:cs typeface="LOREAL Essentielle Black"/>
              <a:sym typeface="LOREAL Essentielle"/>
            </a:endParaRPr>
          </a:p>
        </p:txBody>
      </p:sp>
      <p:sp>
        <p:nvSpPr>
          <p:cNvPr id="42" name="Rectangle : coins arrondis 7">
            <a:extLst>
              <a:ext uri="{FF2B5EF4-FFF2-40B4-BE49-F238E27FC236}">
                <a16:creationId xmlns:a16="http://schemas.microsoft.com/office/drawing/2014/main" id="{D5A0A50B-6FF2-FDF6-EDCD-688800118650}"/>
              </a:ext>
            </a:extLst>
          </p:cNvPr>
          <p:cNvSpPr/>
          <p:nvPr/>
        </p:nvSpPr>
        <p:spPr>
          <a:xfrm>
            <a:off x="6444349" y="4892040"/>
            <a:ext cx="533465" cy="533465"/>
          </a:xfrm>
          <a:prstGeom prst="roundRect">
            <a:avLst/>
          </a:prstGeom>
          <a:solidFill>
            <a:srgbClr val="1738CA"/>
          </a:solidFill>
          <a:ln w="12700" cap="flat">
            <a:noFill/>
            <a:miter lim="400000"/>
          </a:ln>
          <a:effectLst/>
          <a:sp3d/>
        </p:spPr>
        <p:txBody>
          <a:bodyPr rot="0" spcFirstLastPara="1" vertOverflow="overflow" horzOverflow="overflow" vert="horz" wrap="square" lIns="25400" tIns="25400" rIns="25400" bIns="25400" numCol="1" spcCol="38100" rtlCol="0" anchor="ctr">
            <a:noAutofit/>
          </a:bodyPr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1" u="none" strike="noStrike" kern="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OREAL Essentielle Light" pitchFamily="2" charset="77"/>
                <a:ea typeface="Helvetica Neue"/>
                <a:cs typeface="Helvetica Neue"/>
                <a:sym typeface="LOREAL Essentielle Light"/>
              </a:rPr>
              <a:t>I </a:t>
            </a:r>
            <a:r>
              <a:rPr kumimoji="0" lang="fr-FR" sz="2000" b="1" i="1" u="none" strike="noStrike" kern="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OREAL Essentielle Black" pitchFamily="2" charset="77"/>
                <a:ea typeface="Helvetica Neue"/>
                <a:cs typeface="Helvetica Neue"/>
                <a:sym typeface="LOREAL Essentielle Light"/>
              </a:rPr>
              <a:t>4</a:t>
            </a:r>
            <a:endParaRPr kumimoji="0" lang="fr-FR" sz="2000" b="1" i="1" u="none" strike="noStrike" kern="0" cap="none" spc="-10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OREAL Essentielle Black" pitchFamily="2" charset="77"/>
              <a:ea typeface="Helvetica Neue"/>
              <a:cs typeface="Helvetica Neue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8956525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>
            <a:extLst>
              <a:ext uri="{FF2B5EF4-FFF2-40B4-BE49-F238E27FC236}">
                <a16:creationId xmlns:a16="http://schemas.microsoft.com/office/drawing/2014/main" id="{4A88D9EF-A5BF-B942-6C53-71ED7ED6CD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1250" y="81280"/>
            <a:ext cx="1583160" cy="44107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309688F-A0C5-B8DF-33D1-B4602F02E8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5129" y="6079050"/>
            <a:ext cx="1228837" cy="670660"/>
          </a:xfrm>
          <a:prstGeom prst="rect">
            <a:avLst/>
          </a:prstGeom>
        </p:spPr>
      </p:pic>
      <p:sp>
        <p:nvSpPr>
          <p:cNvPr id="2" name="/MEDIA Brands Shape fabric of culture">
            <a:extLst>
              <a:ext uri="{FF2B5EF4-FFF2-40B4-BE49-F238E27FC236}">
                <a16:creationId xmlns:a16="http://schemas.microsoft.com/office/drawing/2014/main" id="{7CE0C467-5753-F420-DEC6-0951EA80B977}"/>
              </a:ext>
            </a:extLst>
          </p:cNvPr>
          <p:cNvSpPr txBox="1"/>
          <p:nvPr/>
        </p:nvSpPr>
        <p:spPr>
          <a:xfrm>
            <a:off x="652147" y="3429000"/>
            <a:ext cx="2766684" cy="1463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25400" tIns="25400" rIns="25400" bIns="25400" anchor="t">
            <a:spAutoFit/>
          </a:bodyPr>
          <a:lstStyle/>
          <a:p>
            <a:pPr marL="0" marR="0" lvl="0" indent="0" algn="ctr" defTabSz="1219169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900" spc="-245">
                <a:gradFill flip="none" rotWithShape="1">
                  <a:gsLst>
                    <a:gs pos="0">
                      <a:srgbClr val="F3B24B"/>
                    </a:gs>
                    <a:gs pos="100000">
                      <a:srgbClr val="E73F65"/>
                    </a:gs>
                  </a:gsLst>
                  <a:lin ang="5400000" scaled="0"/>
                </a:gradFill>
                <a:latin typeface="LOREAL Essentielle Black"/>
                <a:ea typeface="LOREAL Essentielle Black"/>
                <a:cs typeface="LOREAL Essentielle Black"/>
                <a:sym typeface="LOREAL Essentielle Black"/>
              </a:defRPr>
            </a:pPr>
            <a:r>
              <a:rPr kumimoji="0" lang="fr-FR" sz="2200" b="1" i="0" u="none" strike="noStrike" kern="0" cap="none" spc="-123" normalizeH="0" baseline="0" noProof="0">
                <a:ln>
                  <a:noFill/>
                </a:ln>
                <a:solidFill>
                  <a:srgbClr val="1738CA"/>
                </a:solidFill>
                <a:effectLst/>
                <a:uLnTx/>
                <a:uFillTx/>
                <a:latin typeface="LOREAL Essentielle Black" pitchFamily="2" charset="77"/>
                <a:ea typeface="LOREAL Essentielle Black"/>
                <a:cs typeface="LOREAL Essentielle Black"/>
                <a:sym typeface="LOREAL Essentielle Black"/>
              </a:rPr>
              <a:t>US CATALOG</a:t>
            </a:r>
            <a:br>
              <a:rPr kumimoji="0" lang="fr-FR" sz="2200" b="1" i="0" u="none" strike="noStrike" kern="0" cap="none" spc="-123" normalizeH="0" baseline="0" noProof="0">
                <a:ln>
                  <a:noFill/>
                </a:ln>
                <a:solidFill>
                  <a:srgbClr val="1738CA"/>
                </a:solidFill>
                <a:effectLst/>
                <a:uLnTx/>
                <a:uFillTx/>
                <a:latin typeface="LOREAL Essentielle Black" pitchFamily="2" charset="77"/>
                <a:ea typeface="LOREAL Essentielle Black"/>
                <a:cs typeface="LOREAL Essentielle Black"/>
                <a:sym typeface="LOREAL Essentielle Black"/>
              </a:rPr>
            </a:br>
            <a:r>
              <a:rPr kumimoji="0" lang="fr-FR" sz="2200" b="1" i="0" u="none" strike="noStrike" kern="0" cap="none" spc="-123" normalizeH="0" baseline="0" noProof="0">
                <a:ln>
                  <a:noFill/>
                </a:ln>
                <a:solidFill>
                  <a:srgbClr val="1738CA"/>
                </a:solidFill>
                <a:effectLst/>
                <a:uLnTx/>
                <a:uFillTx/>
                <a:latin typeface="LOREAL Essentielle Black" pitchFamily="2" charset="77"/>
                <a:ea typeface="LOREAL Essentielle Black"/>
                <a:cs typeface="LOREAL Essentielle Black"/>
                <a:sym typeface="LOREAL Essentielle Black"/>
              </a:rPr>
              <a:t>AS BASELINE</a:t>
            </a:r>
            <a:br>
              <a:rPr kumimoji="0" lang="fr-FR" sz="1300" b="0" i="0" u="none" strike="noStrike" kern="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OREAL Essentielle Light" pitchFamily="2" charset="77"/>
                <a:ea typeface="LOREAL Essentielle Black"/>
                <a:cs typeface="LOREAL Essentielle Black"/>
                <a:sym typeface="LOREAL Essentielle Black"/>
              </a:rPr>
            </a:br>
            <a:r>
              <a:rPr kumimoji="0" lang="fr-FR" sz="1300" b="0" i="0" u="none" strike="noStrike" kern="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OREAL Essentielle Light" pitchFamily="2" charset="77"/>
                <a:ea typeface="LOREAL Essentielle Black"/>
                <a:cs typeface="LOREAL Essentielle Black"/>
                <a:sym typeface="LOREAL Essentielle Black"/>
              </a:rPr>
              <a:t>Start with consumer funnel</a:t>
            </a:r>
            <a:br>
              <a:rPr kumimoji="0" lang="fr-FR" sz="1300" b="0" i="0" u="none" strike="noStrike" kern="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OREAL Essentielle Light" pitchFamily="2" charset="77"/>
                <a:ea typeface="LOREAL Essentielle Black"/>
                <a:cs typeface="LOREAL Essentielle Black"/>
                <a:sym typeface="LOREAL Essentielle Black"/>
              </a:rPr>
            </a:br>
            <a:r>
              <a:rPr kumimoji="0" lang="fr-FR" sz="1300" b="0" i="0" u="none" strike="noStrike" kern="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OREAL Essentielle Light" pitchFamily="2" charset="77"/>
                <a:ea typeface="LOREAL Essentielle Black"/>
                <a:cs typeface="LOREAL Essentielle Black"/>
                <a:sym typeface="LOREAL Essentielle Black"/>
              </a:rPr>
              <a:t>Review attributes, not only KPIs</a:t>
            </a:r>
            <a:endParaRPr kumimoji="0" lang="fr-FR" sz="1600" b="0" i="0" u="none" strike="noStrike" kern="0" cap="none" spc="-10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OREAL Essentielle Light" pitchFamily="2" charset="77"/>
              <a:ea typeface="LOREAL Essentielle Black"/>
              <a:cs typeface="LOREAL Essentielle Black"/>
              <a:sym typeface="LOREAL Essentielle"/>
            </a:endParaRPr>
          </a:p>
        </p:txBody>
      </p:sp>
      <p:sp>
        <p:nvSpPr>
          <p:cNvPr id="3" name="/MEDIA Brands Shape fabric of culture">
            <a:extLst>
              <a:ext uri="{FF2B5EF4-FFF2-40B4-BE49-F238E27FC236}">
                <a16:creationId xmlns:a16="http://schemas.microsoft.com/office/drawing/2014/main" id="{16A15E45-10A4-EE53-579F-6BF529AC9B2E}"/>
              </a:ext>
            </a:extLst>
          </p:cNvPr>
          <p:cNvSpPr txBox="1"/>
          <p:nvPr/>
        </p:nvSpPr>
        <p:spPr>
          <a:xfrm>
            <a:off x="8439295" y="3429000"/>
            <a:ext cx="2478402" cy="1463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25400" tIns="25400" rIns="25400" bIns="25400" anchor="t">
            <a:normAutofit/>
          </a:bodyPr>
          <a:lstStyle/>
          <a:p>
            <a:pPr marL="0" marR="0" lvl="0" indent="0" algn="ctr" defTabSz="1219169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900" spc="-245">
                <a:gradFill flip="none" rotWithShape="1">
                  <a:gsLst>
                    <a:gs pos="0">
                      <a:srgbClr val="F3B24B"/>
                    </a:gs>
                    <a:gs pos="100000">
                      <a:srgbClr val="E73F65"/>
                    </a:gs>
                  </a:gsLst>
                  <a:lin ang="5400000" scaled="0"/>
                </a:gradFill>
                <a:latin typeface="LOREAL Essentielle Black"/>
                <a:ea typeface="LOREAL Essentielle Black"/>
                <a:cs typeface="LOREAL Essentielle Black"/>
                <a:sym typeface="LOREAL Essentielle Black"/>
              </a:defRPr>
            </a:pPr>
            <a:r>
              <a:rPr kumimoji="0" lang="fr-FR" sz="2200" b="1" i="0" u="none" strike="noStrike" kern="0" cap="none" spc="-123" normalizeH="0" baseline="0" noProof="0">
                <a:ln>
                  <a:noFill/>
                </a:ln>
                <a:solidFill>
                  <a:srgbClr val="1738CA"/>
                </a:solidFill>
                <a:effectLst/>
                <a:uLnTx/>
                <a:uFillTx/>
                <a:latin typeface="LOREAL Essentielle Black" pitchFamily="2" charset="77"/>
                <a:ea typeface="LOREAL Essentielle Black"/>
                <a:cs typeface="LOREAL Essentielle Black"/>
                <a:sym typeface="LOREAL Essentielle Black"/>
              </a:rPr>
              <a:t>MEZYAN &amp; BASTIEN</a:t>
            </a:r>
            <a:br>
              <a:rPr kumimoji="0" lang="fr-FR" sz="2200" b="1" i="0" u="none" strike="noStrike" kern="0" cap="none" spc="-123" normalizeH="0" baseline="0" noProof="0">
                <a:ln>
                  <a:noFill/>
                </a:ln>
                <a:solidFill>
                  <a:srgbClr val="1738CA"/>
                </a:solidFill>
                <a:effectLst/>
                <a:uLnTx/>
                <a:uFillTx/>
                <a:latin typeface="LOREAL Essentielle Black" pitchFamily="2" charset="77"/>
                <a:ea typeface="LOREAL Essentielle Black"/>
                <a:cs typeface="LOREAL Essentielle Black"/>
                <a:sym typeface="LOREAL Essentielle Black"/>
              </a:rPr>
            </a:br>
            <a:r>
              <a:rPr kumimoji="0" lang="fr-FR" sz="2200" b="1" i="0" u="none" strike="noStrike" kern="0" cap="none" spc="-123" normalizeH="0" baseline="0" noProof="0">
                <a:ln>
                  <a:noFill/>
                </a:ln>
                <a:solidFill>
                  <a:srgbClr val="1738CA"/>
                </a:solidFill>
                <a:effectLst/>
                <a:uLnTx/>
                <a:uFillTx/>
                <a:latin typeface="LOREAL Essentielle Black" pitchFamily="2" charset="77"/>
                <a:ea typeface="LOREAL Essentielle Black"/>
                <a:cs typeface="LOREAL Essentielle Black"/>
                <a:sym typeface="LOREAL Essentielle Black"/>
              </a:rPr>
              <a:t>OWN CANADA</a:t>
            </a:r>
            <a:br>
              <a:rPr kumimoji="0" lang="fr-FR" sz="1300" b="0" i="0" u="none" strike="noStrike" kern="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OREAL Essentielle Light" pitchFamily="2" charset="77"/>
                <a:ea typeface="LOREAL Essentielle Black"/>
                <a:cs typeface="LOREAL Essentielle Black"/>
                <a:sym typeface="LOREAL Essentielle Black"/>
              </a:rPr>
            </a:br>
            <a:r>
              <a:rPr kumimoji="0" lang="fr-FR" sz="1300" b="0" i="0" u="none" strike="noStrike" kern="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OREAL Essentielle Light" pitchFamily="2" charset="77"/>
                <a:ea typeface="LOREAL Essentielle Black"/>
                <a:cs typeface="LOREAL Essentielle Black"/>
                <a:sym typeface="LOREAL Essentielle Black"/>
              </a:rPr>
              <a:t>KPI definitions + Canada completion</a:t>
            </a:r>
            <a:br>
              <a:rPr kumimoji="0" lang="fr-FR" sz="1300" b="0" i="0" u="none" strike="noStrike" kern="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OREAL Essentielle Light" pitchFamily="2" charset="77"/>
                <a:ea typeface="LOREAL Essentielle Black"/>
                <a:cs typeface="LOREAL Essentielle Black"/>
                <a:sym typeface="LOREAL Essentielle Black"/>
              </a:rPr>
            </a:br>
            <a:r>
              <a:rPr kumimoji="0" lang="fr-FR" sz="1300" b="0" i="0" u="none" strike="noStrike" kern="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OREAL Essentielle Light" pitchFamily="2" charset="77"/>
                <a:ea typeface="LOREAL Essentielle Black"/>
                <a:cs typeface="LOREAL Essentielle Black"/>
                <a:sym typeface="LOREAL Essentielle Black"/>
              </a:rPr>
              <a:t>Canada weighs in on Gold design</a:t>
            </a:r>
            <a:endParaRPr kumimoji="0" lang="fr-FR" sz="1600" b="0" i="0" u="none" strike="noStrike" kern="0" cap="none" spc="-10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OREAL Essentielle Light" pitchFamily="2" charset="77"/>
              <a:ea typeface="LOREAL Essentielle Black"/>
              <a:cs typeface="LOREAL Essentielle Black"/>
              <a:sym typeface="LOREAL Essentielle"/>
            </a:endParaRPr>
          </a:p>
        </p:txBody>
      </p:sp>
      <p:sp>
        <p:nvSpPr>
          <p:cNvPr id="6" name="/MEDIA Brands Shape fabric of culture">
            <a:extLst>
              <a:ext uri="{FF2B5EF4-FFF2-40B4-BE49-F238E27FC236}">
                <a16:creationId xmlns:a16="http://schemas.microsoft.com/office/drawing/2014/main" id="{787E09E3-DE69-5664-781A-BFA3EBBAF66F}"/>
              </a:ext>
            </a:extLst>
          </p:cNvPr>
          <p:cNvSpPr txBox="1"/>
          <p:nvPr/>
        </p:nvSpPr>
        <p:spPr>
          <a:xfrm>
            <a:off x="4545721" y="3429000"/>
            <a:ext cx="2766684" cy="1463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25400" tIns="25400" rIns="25400" bIns="25400" anchor="t">
            <a:spAutoFit/>
          </a:bodyPr>
          <a:lstStyle/>
          <a:p>
            <a:pPr marL="0" marR="0" lvl="0" indent="0" algn="ctr" defTabSz="1219169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900" spc="-245">
                <a:gradFill flip="none" rotWithShape="1">
                  <a:gsLst>
                    <a:gs pos="0">
                      <a:srgbClr val="F3B24B"/>
                    </a:gs>
                    <a:gs pos="100000">
                      <a:srgbClr val="E73F65"/>
                    </a:gs>
                  </a:gsLst>
                  <a:lin ang="5400000" scaled="0"/>
                </a:gradFill>
                <a:latin typeface="LOREAL Essentielle Black"/>
                <a:ea typeface="LOREAL Essentielle Black"/>
                <a:cs typeface="LOREAL Essentielle Black"/>
                <a:sym typeface="LOREAL Essentielle Black"/>
              </a:defRPr>
            </a:pPr>
            <a:r>
              <a:rPr kumimoji="0" lang="fr-FR" sz="2200" b="1" i="0" u="none" strike="noStrike" kern="0" cap="none" spc="-123" normalizeH="0" baseline="0" noProof="0">
                <a:ln>
                  <a:noFill/>
                </a:ln>
                <a:solidFill>
                  <a:srgbClr val="1738CA"/>
                </a:solidFill>
                <a:effectLst/>
                <a:uLnTx/>
                <a:uFillTx/>
                <a:latin typeface="LOREAL Essentielle Black" pitchFamily="2" charset="77"/>
                <a:ea typeface="LOREAL Essentielle Black"/>
                <a:cs typeface="LOREAL Essentielle Black"/>
                <a:sym typeface="LOREAL Essentielle Black"/>
              </a:rPr>
              <a:t>CANADA BUILDS</a:t>
            </a:r>
            <a:br>
              <a:rPr kumimoji="0" lang="fr-FR" sz="2200" b="1" i="0" u="none" strike="noStrike" kern="0" cap="none" spc="-123" normalizeH="0" baseline="0" noProof="0">
                <a:ln>
                  <a:noFill/>
                </a:ln>
                <a:solidFill>
                  <a:srgbClr val="1738CA"/>
                </a:solidFill>
                <a:effectLst/>
                <a:uLnTx/>
                <a:uFillTx/>
                <a:latin typeface="LOREAL Essentielle Black" pitchFamily="2" charset="77"/>
                <a:ea typeface="LOREAL Essentielle Black"/>
                <a:cs typeface="LOREAL Essentielle Black"/>
                <a:sym typeface="LOREAL Essentielle Black"/>
              </a:rPr>
            </a:br>
            <a:r>
              <a:rPr kumimoji="0" lang="fr-FR" sz="2200" b="1" i="0" u="none" strike="noStrike" kern="0" cap="none" spc="-123" normalizeH="0" baseline="0" noProof="0">
                <a:ln>
                  <a:noFill/>
                </a:ln>
                <a:solidFill>
                  <a:srgbClr val="1738CA"/>
                </a:solidFill>
                <a:effectLst/>
                <a:uLnTx/>
                <a:uFillTx/>
                <a:latin typeface="LOREAL Essentielle Black" pitchFamily="2" charset="77"/>
                <a:ea typeface="LOREAL Essentielle Black"/>
                <a:cs typeface="LOREAL Essentielle Black"/>
                <a:sym typeface="LOREAL Essentielle Black"/>
              </a:rPr>
              <a:t>OWN KPI CATALOG</a:t>
            </a:r>
            <a:br>
              <a:rPr kumimoji="0" lang="fr-FR" sz="1300" b="0" i="0" u="none" strike="noStrike" kern="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OREAL Essentielle Light" pitchFamily="2" charset="77"/>
                <a:ea typeface="Helvetica Neue"/>
                <a:cs typeface="Helvetica Neue"/>
                <a:sym typeface="LOREAL Essentielle Black"/>
              </a:rPr>
            </a:br>
            <a:r>
              <a:rPr kumimoji="0" lang="fr-FR" sz="1300" b="0" i="0" u="none" strike="noStrike" kern="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OREAL Essentielle Light" pitchFamily="2" charset="77"/>
                <a:ea typeface="Helvetica Neue"/>
                <a:cs typeface="Helvetica Neue"/>
                <a:sym typeface="LOREAL Essentielle Black"/>
              </a:rPr>
              <a:t>Consistent with US definitions</a:t>
            </a:r>
            <a:br>
              <a:rPr kumimoji="0" lang="fr-FR" sz="1300" b="0" i="0" u="none" strike="noStrike" kern="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OREAL Essentielle Light" pitchFamily="2" charset="77"/>
                <a:ea typeface="Helvetica Neue"/>
                <a:cs typeface="Helvetica Neue"/>
                <a:sym typeface="LOREAL Essentielle Black"/>
              </a:rPr>
            </a:br>
            <a:r>
              <a:rPr kumimoji="0" lang="fr-FR" sz="1300" b="0" i="0" u="none" strike="noStrike" kern="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OREAL Essentielle Light" pitchFamily="2" charset="77"/>
                <a:ea typeface="Helvetica Neue"/>
                <a:cs typeface="Helvetica Neue"/>
                <a:sym typeface="LOREAL Essentielle Black"/>
              </a:rPr>
              <a:t>Gold = main consumption layer</a:t>
            </a:r>
          </a:p>
        </p:txBody>
      </p:sp>
      <p:pic>
        <p:nvPicPr>
          <p:cNvPr id="7" name="vidéo-collée.png" descr="vidéo-collée.png">
            <a:extLst>
              <a:ext uri="{FF2B5EF4-FFF2-40B4-BE49-F238E27FC236}">
                <a16:creationId xmlns:a16="http://schemas.microsoft.com/office/drawing/2014/main" id="{7C9ED05F-5896-F5D5-1772-C2D20921C95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3783" t="3602" r="488" b="59223"/>
          <a:stretch/>
        </p:blipFill>
        <p:spPr>
          <a:xfrm>
            <a:off x="335127" y="1399309"/>
            <a:ext cx="3377892" cy="1274729"/>
          </a:xfrm>
          <a:prstGeom prst="round2SameRect">
            <a:avLst>
              <a:gd name="adj1" fmla="val 7572"/>
              <a:gd name="adj2" fmla="val 0"/>
            </a:avLst>
          </a:prstGeom>
          <a:ln w="12700">
            <a:miter lim="400000"/>
          </a:ln>
        </p:spPr>
      </p:pic>
      <p:pic>
        <p:nvPicPr>
          <p:cNvPr id="8" name="vidéo-collée.png" descr="vidéo-collée.png">
            <a:extLst>
              <a:ext uri="{FF2B5EF4-FFF2-40B4-BE49-F238E27FC236}">
                <a16:creationId xmlns:a16="http://schemas.microsoft.com/office/drawing/2014/main" id="{529A6899-FC9B-0723-5FC4-C09342B5B71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9553" t="21712" r="2596" b="33074"/>
          <a:stretch/>
        </p:blipFill>
        <p:spPr>
          <a:xfrm>
            <a:off x="4228700" y="1399309"/>
            <a:ext cx="3400727" cy="1274729"/>
          </a:xfrm>
          <a:prstGeom prst="round2SameRect">
            <a:avLst>
              <a:gd name="adj1" fmla="val 6930"/>
              <a:gd name="adj2" fmla="val 0"/>
            </a:avLst>
          </a:prstGeom>
          <a:ln w="12700">
            <a:miter lim="400000"/>
          </a:ln>
        </p:spPr>
      </p:pic>
      <p:pic>
        <p:nvPicPr>
          <p:cNvPr id="9" name="vidéo-collée.png" descr="vidéo-collée.png">
            <a:extLst>
              <a:ext uri="{FF2B5EF4-FFF2-40B4-BE49-F238E27FC236}">
                <a16:creationId xmlns:a16="http://schemas.microsoft.com/office/drawing/2014/main" id="{CA43810A-9C46-CBF2-4EB6-B743830B8504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42899" t="28271" r="1973" b="34957"/>
          <a:stretch/>
        </p:blipFill>
        <p:spPr>
          <a:xfrm flipH="1">
            <a:off x="8125605" y="1399309"/>
            <a:ext cx="3400727" cy="1274729"/>
          </a:xfrm>
          <a:prstGeom prst="round2SameRect">
            <a:avLst>
              <a:gd name="adj1" fmla="val 7417"/>
              <a:gd name="adj2" fmla="val 0"/>
            </a:avLst>
          </a:prstGeom>
          <a:ln w="12700">
            <a:miter lim="400000"/>
          </a:ln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409CDF3-A1F2-CED2-C0B7-068580D88F39}"/>
              </a:ext>
            </a:extLst>
          </p:cNvPr>
          <p:cNvSpPr/>
          <p:nvPr/>
        </p:nvSpPr>
        <p:spPr>
          <a:xfrm>
            <a:off x="335126" y="2671635"/>
            <a:ext cx="3377893" cy="297517"/>
          </a:xfrm>
          <a:prstGeom prst="rect">
            <a:avLst/>
          </a:prstGeom>
          <a:solidFill>
            <a:srgbClr val="000000"/>
          </a:solidFill>
          <a:ln w="12700" cap="flat">
            <a:noFill/>
            <a:miter lim="400000"/>
          </a:ln>
          <a:effectLst/>
          <a:sp3d/>
        </p:spPr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/MEDIA Brands Shape fabric of culture">
            <a:extLst>
              <a:ext uri="{FF2B5EF4-FFF2-40B4-BE49-F238E27FC236}">
                <a16:creationId xmlns:a16="http://schemas.microsoft.com/office/drawing/2014/main" id="{28380F1F-317F-8406-7485-263CB5CB5E94}"/>
              </a:ext>
            </a:extLst>
          </p:cNvPr>
          <p:cNvSpPr txBox="1"/>
          <p:nvPr/>
        </p:nvSpPr>
        <p:spPr>
          <a:xfrm>
            <a:off x="652147" y="2681436"/>
            <a:ext cx="2766684" cy="3359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25400" tIns="25400" rIns="25400" bIns="25400" anchor="t">
            <a:spAutoFit/>
          </a:bodyPr>
          <a:lstStyle/>
          <a:p>
            <a:pPr marL="0" marR="0" lvl="0" indent="0" algn="ctr" defTabSz="1219169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900" spc="-245">
                <a:gradFill flip="none" rotWithShape="1">
                  <a:gsLst>
                    <a:gs pos="0">
                      <a:srgbClr val="F3B24B"/>
                    </a:gs>
                    <a:gs pos="100000">
                      <a:srgbClr val="E73F65"/>
                    </a:gs>
                  </a:gsLst>
                  <a:lin ang="5400000" scaled="0"/>
                </a:gradFill>
                <a:latin typeface="LOREAL Essentielle Black"/>
                <a:ea typeface="LOREAL Essentielle Black"/>
                <a:cs typeface="LOREAL Essentielle Black"/>
                <a:sym typeface="LOREAL Essentielle Black"/>
              </a:defRPr>
            </a:pPr>
            <a:r>
              <a:rPr kumimoji="0" lang="fr-FR" sz="2000" b="0" i="1" u="none" strike="noStrike" kern="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OREAL Essentielle Light" pitchFamily="2" charset="77"/>
                <a:ea typeface="LOREAL Essentielle Light"/>
                <a:cs typeface="LOREAL Essentielle Light"/>
                <a:sym typeface="LOREAL Essentielle Light"/>
              </a:rPr>
              <a:t>I </a:t>
            </a:r>
            <a:r>
              <a:rPr kumimoji="0" lang="fr-FR" sz="2000" b="1" i="0" u="none" strike="noStrike" kern="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OREAL Essentielle Black" pitchFamily="2" charset="77"/>
                <a:ea typeface="LOREAL Essentielle Light"/>
                <a:cs typeface="LOREAL Essentielle Light"/>
                <a:sym typeface="LOREAL Essentielle Light"/>
              </a:rPr>
              <a:t>WORKSHOP 1 · 7 OCT</a:t>
            </a:r>
            <a:endParaRPr kumimoji="0" lang="fr-FR" sz="2000" b="0" i="0" u="none" strike="noStrike" kern="0" cap="none" spc="-10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OREAL Essentielle Light" pitchFamily="2" charset="77"/>
              <a:ea typeface="LOREAL Essentielle Black"/>
              <a:cs typeface="LOREAL Essentielle Black"/>
              <a:sym typeface="LOREAL Essentielle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7BBC66-0C54-86C4-1778-6250670EF008}"/>
              </a:ext>
            </a:extLst>
          </p:cNvPr>
          <p:cNvSpPr/>
          <p:nvPr/>
        </p:nvSpPr>
        <p:spPr>
          <a:xfrm>
            <a:off x="4228700" y="2671635"/>
            <a:ext cx="3400727" cy="297517"/>
          </a:xfrm>
          <a:prstGeom prst="rect">
            <a:avLst/>
          </a:prstGeom>
          <a:solidFill>
            <a:srgbClr val="000000"/>
          </a:solidFill>
          <a:ln w="12700" cap="flat">
            <a:noFill/>
            <a:miter lim="400000"/>
          </a:ln>
          <a:effectLst/>
          <a:sp3d/>
        </p:spPr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" name="/MEDIA Brands Shape fabric of culture">
            <a:extLst>
              <a:ext uri="{FF2B5EF4-FFF2-40B4-BE49-F238E27FC236}">
                <a16:creationId xmlns:a16="http://schemas.microsoft.com/office/drawing/2014/main" id="{9A5F94B2-DA19-BCC1-EEE8-33D7A5539336}"/>
              </a:ext>
            </a:extLst>
          </p:cNvPr>
          <p:cNvSpPr txBox="1"/>
          <p:nvPr/>
        </p:nvSpPr>
        <p:spPr>
          <a:xfrm>
            <a:off x="4545721" y="2681436"/>
            <a:ext cx="2766684" cy="3359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25400" tIns="25400" rIns="25400" bIns="25400" anchor="t">
            <a:spAutoFit/>
          </a:bodyPr>
          <a:lstStyle/>
          <a:p>
            <a:pPr marL="0" marR="0" lvl="0" indent="0" algn="ctr" defTabSz="1219169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900" spc="-245">
                <a:gradFill flip="none" rotWithShape="1">
                  <a:gsLst>
                    <a:gs pos="0">
                      <a:srgbClr val="F3B24B"/>
                    </a:gs>
                    <a:gs pos="100000">
                      <a:srgbClr val="E73F65"/>
                    </a:gs>
                  </a:gsLst>
                  <a:lin ang="5400000" scaled="0"/>
                </a:gradFill>
                <a:latin typeface="LOREAL Essentielle Black"/>
                <a:ea typeface="LOREAL Essentielle Black"/>
                <a:cs typeface="LOREAL Essentielle Black"/>
                <a:sym typeface="LOREAL Essentielle Black"/>
              </a:defRPr>
            </a:pPr>
            <a:r>
              <a:rPr kumimoji="0" lang="fr-FR" sz="2000" b="0" i="1" u="none" strike="noStrike" kern="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OREAL Essentielle Light" pitchFamily="2" charset="77"/>
                <a:ea typeface="LOREAL Essentielle Light"/>
                <a:cs typeface="LOREAL Essentielle Light"/>
                <a:sym typeface="LOREAL Essentielle Light"/>
              </a:rPr>
              <a:t>I </a:t>
            </a:r>
            <a:r>
              <a:rPr kumimoji="0" lang="fr-FR" sz="2000" b="1" i="0" u="none" strike="noStrike" kern="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OREAL Essentielle Black" pitchFamily="2" charset="77"/>
                <a:ea typeface="LOREAL Essentielle Light"/>
                <a:cs typeface="LOREAL Essentielle Light"/>
                <a:sym typeface="LOREAL Essentielle Light"/>
              </a:rPr>
              <a:t>CANADA SCOPE</a:t>
            </a:r>
            <a:endParaRPr kumimoji="0" lang="fr-FR" sz="2000" b="0" i="0" u="none" strike="noStrike" kern="0" cap="none" spc="-10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OREAL Essentielle Light" pitchFamily="2" charset="77"/>
              <a:ea typeface="LOREAL Essentielle Black"/>
              <a:cs typeface="LOREAL Essentielle Black"/>
              <a:sym typeface="LOREAL Essentielle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1B3C6BE-924D-35FD-06A7-88A74D46B804}"/>
              </a:ext>
            </a:extLst>
          </p:cNvPr>
          <p:cNvSpPr/>
          <p:nvPr/>
        </p:nvSpPr>
        <p:spPr>
          <a:xfrm>
            <a:off x="8122274" y="2671635"/>
            <a:ext cx="3400727" cy="297517"/>
          </a:xfrm>
          <a:prstGeom prst="rect">
            <a:avLst/>
          </a:prstGeom>
          <a:solidFill>
            <a:srgbClr val="000000"/>
          </a:solidFill>
          <a:ln w="12700" cap="flat">
            <a:noFill/>
            <a:miter lim="400000"/>
          </a:ln>
          <a:effectLst/>
          <a:sp3d/>
        </p:spPr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/MEDIA Brands Shape fabric of culture">
            <a:extLst>
              <a:ext uri="{FF2B5EF4-FFF2-40B4-BE49-F238E27FC236}">
                <a16:creationId xmlns:a16="http://schemas.microsoft.com/office/drawing/2014/main" id="{AF75FDA0-64C7-9A11-9E17-AF7F4B614F35}"/>
              </a:ext>
            </a:extLst>
          </p:cNvPr>
          <p:cNvSpPr txBox="1"/>
          <p:nvPr/>
        </p:nvSpPr>
        <p:spPr>
          <a:xfrm>
            <a:off x="8439295" y="2681436"/>
            <a:ext cx="2766684" cy="3359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25400" tIns="25400" rIns="25400" bIns="25400" anchor="t">
            <a:spAutoFit/>
          </a:bodyPr>
          <a:lstStyle/>
          <a:p>
            <a:pPr marL="0" marR="0" lvl="0" indent="0" algn="ctr" defTabSz="1219169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900" spc="-245">
                <a:gradFill flip="none" rotWithShape="1">
                  <a:gsLst>
                    <a:gs pos="0">
                      <a:srgbClr val="F3B24B"/>
                    </a:gs>
                    <a:gs pos="100000">
                      <a:srgbClr val="E73F65"/>
                    </a:gs>
                  </a:gsLst>
                  <a:lin ang="5400000" scaled="0"/>
                </a:gradFill>
                <a:latin typeface="LOREAL Essentielle Black"/>
                <a:ea typeface="LOREAL Essentielle Black"/>
                <a:cs typeface="LOREAL Essentielle Black"/>
                <a:sym typeface="LOREAL Essentielle Black"/>
              </a:defRPr>
            </a:pPr>
            <a:r>
              <a:rPr kumimoji="0" lang="fr-FR" sz="2000" b="0" i="1" u="none" strike="noStrike" kern="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OREAL Essentielle Light" pitchFamily="2" charset="77"/>
                <a:ea typeface="LOREAL Essentielle Light"/>
                <a:cs typeface="LOREAL Essentielle Light"/>
                <a:sym typeface="LOREAL Essentielle Light"/>
              </a:rPr>
              <a:t>I </a:t>
            </a:r>
            <a:r>
              <a:rPr kumimoji="0" lang="fr-FR" sz="2000" b="1" i="0" u="none" strike="noStrike" kern="0" cap="none" spc="-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OREAL Essentielle Black" pitchFamily="2" charset="77"/>
                <a:ea typeface="LOREAL Essentielle Light"/>
                <a:cs typeface="LOREAL Essentielle Light"/>
                <a:sym typeface="LOREAL Essentielle Light"/>
              </a:rPr>
              <a:t>GOVERNANCE</a:t>
            </a:r>
            <a:endParaRPr kumimoji="0" lang="fr-FR" sz="2000" b="0" i="0" u="none" strike="noStrike" kern="0" cap="none" spc="-10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OREAL Essentielle Light" pitchFamily="2" charset="77"/>
              <a:ea typeface="LOREAL Essentielle Black"/>
              <a:cs typeface="LOREAL Essentielle Black"/>
              <a:sym typeface="LOREAL Essentielle"/>
            </a:endParaRPr>
          </a:p>
        </p:txBody>
      </p:sp>
      <p:sp>
        <p:nvSpPr>
          <p:cNvPr id="16" name="Rectangle : coins arrondis 23">
            <a:extLst>
              <a:ext uri="{FF2B5EF4-FFF2-40B4-BE49-F238E27FC236}">
                <a16:creationId xmlns:a16="http://schemas.microsoft.com/office/drawing/2014/main" id="{6D8CD97D-BCA7-EAFD-4083-D473A585ECCB}"/>
              </a:ext>
            </a:extLst>
          </p:cNvPr>
          <p:cNvSpPr/>
          <p:nvPr/>
        </p:nvSpPr>
        <p:spPr>
          <a:xfrm>
            <a:off x="335127" y="1399309"/>
            <a:ext cx="3377892" cy="4248000"/>
          </a:xfrm>
          <a:prstGeom prst="roundRect">
            <a:avLst>
              <a:gd name="adj" fmla="val 2355"/>
            </a:avLst>
          </a:prstGeom>
          <a:noFill/>
          <a:ln w="12700" cap="flat">
            <a:solidFill>
              <a:srgbClr val="000000"/>
            </a:solidFill>
            <a:miter lim="400000"/>
          </a:ln>
          <a:effectLst/>
          <a:sp3d/>
        </p:spPr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Rectangle : coins arrondis 24">
            <a:extLst>
              <a:ext uri="{FF2B5EF4-FFF2-40B4-BE49-F238E27FC236}">
                <a16:creationId xmlns:a16="http://schemas.microsoft.com/office/drawing/2014/main" id="{2900CD19-03E5-6C99-951A-025F60EBE154}"/>
              </a:ext>
            </a:extLst>
          </p:cNvPr>
          <p:cNvSpPr/>
          <p:nvPr/>
        </p:nvSpPr>
        <p:spPr>
          <a:xfrm>
            <a:off x="4228700" y="1399309"/>
            <a:ext cx="3400727" cy="4248000"/>
          </a:xfrm>
          <a:prstGeom prst="roundRect">
            <a:avLst>
              <a:gd name="adj" fmla="val 2355"/>
            </a:avLst>
          </a:prstGeom>
          <a:noFill/>
          <a:ln w="12700" cap="flat">
            <a:solidFill>
              <a:srgbClr val="000000"/>
            </a:solidFill>
            <a:miter lim="400000"/>
          </a:ln>
          <a:effectLst/>
          <a:sp3d/>
        </p:spPr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Rectangle : coins arrondis 25">
            <a:extLst>
              <a:ext uri="{FF2B5EF4-FFF2-40B4-BE49-F238E27FC236}">
                <a16:creationId xmlns:a16="http://schemas.microsoft.com/office/drawing/2014/main" id="{8FE7FD4E-71E8-2E8C-CCA7-B0A35AF01880}"/>
              </a:ext>
            </a:extLst>
          </p:cNvPr>
          <p:cNvSpPr/>
          <p:nvPr/>
        </p:nvSpPr>
        <p:spPr>
          <a:xfrm>
            <a:off x="8122274" y="1399309"/>
            <a:ext cx="3401999" cy="4248000"/>
          </a:xfrm>
          <a:prstGeom prst="roundRect">
            <a:avLst>
              <a:gd name="adj" fmla="val 2355"/>
            </a:avLst>
          </a:prstGeom>
          <a:noFill/>
          <a:ln w="12700" cap="flat">
            <a:solidFill>
              <a:srgbClr val="000000"/>
            </a:solidFill>
            <a:miter lim="400000"/>
          </a:ln>
          <a:effectLst/>
          <a:sp3d/>
        </p:spPr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0" name="Title">
            <a:extLst>
              <a:ext uri="{FF2B5EF4-FFF2-40B4-BE49-F238E27FC236}">
                <a16:creationId xmlns:a16="http://schemas.microsoft.com/office/drawing/2014/main" id="{6AB67982-73F2-0E16-D147-DA38C5E61D12}"/>
              </a:ext>
            </a:extLst>
          </p:cNvPr>
          <p:cNvSpPr txBox="1"/>
          <p:nvPr/>
        </p:nvSpPr>
        <p:spPr>
          <a:xfrm>
            <a:off x="335126" y="366972"/>
            <a:ext cx="5488362" cy="5942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t">
            <a:normAutofit lnSpcReduction="10000"/>
          </a:bodyPr>
          <a:lstStyle/>
          <a:p>
            <a:pPr marL="0" marR="0" lvl="0" indent="0" algn="l" defTabSz="1219169" rtl="0" eaLnBrk="1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900" spc="-245">
                <a:gradFill flip="none" rotWithShape="1">
                  <a:gsLst>
                    <a:gs pos="0">
                      <a:srgbClr val="F3B24B"/>
                    </a:gs>
                    <a:gs pos="100000">
                      <a:srgbClr val="E73F65"/>
                    </a:gs>
                  </a:gsLst>
                  <a:lin ang="5400000" scaled="0"/>
                </a:gradFill>
                <a:latin typeface="LOREAL Essentielle Black"/>
                <a:ea typeface="LOREAL Essentielle Black"/>
                <a:cs typeface="LOREAL Essentielle Black"/>
                <a:sym typeface="LOREAL Essentielle Black"/>
              </a:defRPr>
            </a:pPr>
            <a:r>
              <a:rPr kumimoji="0" lang="fr-FR" sz="1600" b="1" i="1" u="none" strike="noStrike" kern="0" cap="none" spc="-100" normalizeH="0" baseline="0" noProof="0">
                <a:ln>
                  <a:noFill/>
                </a:ln>
                <a:solidFill>
                  <a:srgbClr val="1738CA"/>
                </a:solidFill>
                <a:effectLst/>
                <a:uLnTx/>
                <a:uFillTx/>
                <a:latin typeface="LOREAL Essentielle Black" pitchFamily="2" charset="77"/>
                <a:ea typeface="LOREAL Essentielle Light"/>
                <a:cs typeface="LOREAL Essentielle Light"/>
                <a:sym typeface="LOREAL Essentielle Light"/>
              </a:rPr>
              <a:t>I</a:t>
            </a:r>
            <a:r>
              <a:rPr kumimoji="0" lang="fr-FR" sz="1600" b="0" i="1" u="none" strike="noStrike" kern="0" cap="none" spc="-100" normalizeH="0" baseline="0" noProof="0">
                <a:ln>
                  <a:noFill/>
                </a:ln>
                <a:solidFill>
                  <a:srgbClr val="1738CA"/>
                </a:solidFill>
                <a:effectLst/>
                <a:uLnTx/>
                <a:uFillTx/>
                <a:latin typeface="LOREAL Essentielle Light"/>
                <a:ea typeface="LOREAL Essentielle Light"/>
                <a:cs typeface="LOREAL Essentielle Light"/>
                <a:sym typeface="LOREAL Essentielle Light"/>
              </a:rPr>
              <a:t> </a:t>
            </a:r>
            <a:r>
              <a:rPr kumimoji="0" lang="fr-FR" sz="1600" b="0" i="0" u="none" strike="noStrike" kern="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OREAL Essentielle Light"/>
                <a:ea typeface="LOREAL Essentielle Light"/>
                <a:cs typeface="LOREAL Essentielle Light"/>
                <a:sym typeface="LOREAL Essentielle Light"/>
              </a:rPr>
              <a:t>RENOVATE  </a:t>
            </a:r>
            <a:br>
              <a:rPr kumimoji="0" sz="2450" b="0" i="0" u="none" strike="noStrike" kern="0" cap="none" spc="-123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OREAL Essentielle Light"/>
                <a:ea typeface="LOREAL Essentielle Light"/>
                <a:cs typeface="LOREAL Essentielle Light"/>
                <a:sym typeface="LOREAL Essentielle Light"/>
              </a:rPr>
            </a:br>
            <a:r>
              <a:rPr kumimoji="0" sz="2450" b="1" i="0" u="none" strike="noStrike" kern="0" cap="all" spc="-123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OREAL Essentielle Black" pitchFamily="2" charset="77"/>
                <a:ea typeface="LOREAL Essentielle"/>
                <a:cs typeface="LOREAL Essentielle"/>
                <a:sym typeface="LOREAL Essentielle"/>
              </a:rPr>
              <a:t>PROGRESS: KPI WORKSHOP 1 SET THE BASELINE</a:t>
            </a:r>
          </a:p>
        </p:txBody>
      </p:sp>
    </p:spTree>
    <p:extLst>
      <p:ext uri="{BB962C8B-B14F-4D97-AF65-F5344CB8AC3E}">
        <p14:creationId xmlns:p14="http://schemas.microsoft.com/office/powerpoint/2010/main" val="1539925744"/>
      </p:ext>
    </p:extLst>
  </p:cSld>
  <p:clrMapOvr>
    <a:masterClrMapping/>
  </p:clrMapOvr>
</p:sld>
</file>

<file path=ppt/theme/theme1.xml><?xml version="1.0" encoding="utf-8"?>
<a:theme xmlns:a="http://schemas.openxmlformats.org/drawingml/2006/main" name="22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90000"/>
          </a:lnSpc>
          <a:spcAft>
            <a:spcPts val="0"/>
          </a:spcAft>
          <a:buClrTx/>
          <a:buSzTx/>
          <a:buFontTx/>
          <a:buNone/>
          <a:tabLst/>
          <a:defRPr kumimoji="0" sz="2000" b="0" i="0" u="none" strike="noStrike" cap="none" spc="0" normalizeH="0" baseline="0" dirty="0" smtClean="0">
            <a:ln>
              <a:noFill/>
            </a:ln>
            <a:solidFill>
              <a:srgbClr val="000000"/>
            </a:solidFill>
            <a:effectLst/>
            <a:uFillTx/>
            <a:latin typeface="Montserrat" panose="00000500000000000000" pitchFamily="2" charset="0"/>
            <a:sym typeface="Helvetica Neue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e6d0784-d945-4d95-8a91-722448d299df">
      <Terms xmlns="http://schemas.microsoft.com/office/infopath/2007/PartnerControls"/>
    </lcf76f155ced4ddcb4097134ff3c332f>
    <TaxCatchAll xmlns="4fdbd44e-b387-4e29-b17f-037838ee4563" xsi:nil="true"/>
    <_ip_UnifiedCompliancePolicyUIAction xmlns="http://schemas.microsoft.com/sharepoint/v3" xsi:nil="true"/>
    <_ip_UnifiedCompliancePolicyProperties xmlns="http://schemas.microsoft.com/sharepoint/v3" xsi:nil="true"/>
    <ArchiverLinkFileType xmlns="ee6d0784-d945-4d95-8a91-722448d299df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89234D4E752CD4B9B233F9428C0A237" ma:contentTypeVersion="19" ma:contentTypeDescription="Crée un document." ma:contentTypeScope="" ma:versionID="284c6cf2aed44e736b104b96744e4ba2">
  <xsd:schema xmlns:xsd="http://www.w3.org/2001/XMLSchema" xmlns:xs="http://www.w3.org/2001/XMLSchema" xmlns:p="http://schemas.microsoft.com/office/2006/metadata/properties" xmlns:ns1="http://schemas.microsoft.com/sharepoint/v3" xmlns:ns2="ee6d0784-d945-4d95-8a91-722448d299df" xmlns:ns3="4fdbd44e-b387-4e29-b17f-037838ee4563" targetNamespace="http://schemas.microsoft.com/office/2006/metadata/properties" ma:root="true" ma:fieldsID="3f1cf2ff5a76b8196c13b2b55c7b9398" ns1:_="" ns2:_="" ns3:_="">
    <xsd:import namespace="http://schemas.microsoft.com/sharepoint/v3"/>
    <xsd:import namespace="ee6d0784-d945-4d95-8a91-722448d299df"/>
    <xsd:import namespace="4fdbd44e-b387-4e29-b17f-037838ee456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MediaServiceLocation" minOccurs="0"/>
                <xsd:element ref="ns2:MediaServiceSearchProperties" minOccurs="0"/>
                <xsd:element ref="ns2:MediaServiceBillingMetadata" minOccurs="0"/>
                <xsd:element ref="ns1:_ip_UnifiedCompliancePolicyProperties" minOccurs="0"/>
                <xsd:element ref="ns1:_ip_UnifiedCompliancePolicyUIAction" minOccurs="0"/>
                <xsd:element ref="ns2:ArchiverLinkFileTyp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4" nillable="true" ma:displayName="Propriétés de la stratégie de conformité unifiée" ma:hidden="true" ma:internalName="_ip_UnifiedCompliancePolicyProperties">
      <xsd:simpleType>
        <xsd:restriction base="dms:Note"/>
      </xsd:simpleType>
    </xsd:element>
    <xsd:element name="_ip_UnifiedCompliancePolicyUIAction" ma:index="25" nillable="true" ma:displayName="Action d’interface utilisateur de la stratégie de conformité unifiée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e6d0784-d945-4d95-8a91-722448d299d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Balises d’images" ma:readOnly="false" ma:fieldId="{5cf76f15-5ced-4ddc-b409-7134ff3c332f}" ma:taxonomyMulti="true" ma:sspId="95695907-6fe8-4d6a-bae9-9d62cd25b83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  <xsd:element name="ArchiverLinkFileType" ma:index="26" nillable="true" ma:displayName="ArchiverLinkFileType" ma:hidden="true" ma:internalName="ArchiverLinkFileTyp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fdbd44e-b387-4e29-b17f-037838ee4563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2a42f626-da9b-47ca-af63-3cb8e0c71555}" ma:internalName="TaxCatchAll" ma:showField="CatchAllData" ma:web="4fdbd44e-b387-4e29-b17f-037838ee456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6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F78170C-D377-418A-AEA2-9B0265434BE7}">
  <ds:schemaRefs>
    <ds:schemaRef ds:uri="4fdbd44e-b387-4e29-b17f-037838ee4563"/>
    <ds:schemaRef ds:uri="ee6d0784-d945-4d95-8a91-722448d299df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D998A7C1-F0AF-4F9C-9157-EBE2132752E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05C8820-FA9F-4900-8D53-C81DE794B303}">
  <ds:schemaRefs>
    <ds:schemaRef ds:uri="4fdbd44e-b387-4e29-b17f-037838ee4563"/>
    <ds:schemaRef ds:uri="ee6d0784-d945-4d95-8a91-722448d299d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1010</Words>
  <Application>Microsoft Macintosh PowerPoint</Application>
  <PresentationFormat>Grand écran</PresentationFormat>
  <Paragraphs>274</Paragraphs>
  <Slides>25</Slides>
  <Notes>5</Notes>
  <HiddenSlides>25</HiddenSlides>
  <MMClips>0</MMClips>
  <ScaleCrop>false</ScaleCrop>
  <HeadingPairs>
    <vt:vector size="8" baseType="variant">
      <vt:variant>
        <vt:lpstr>Polices utilisées</vt:lpstr>
      </vt:variant>
      <vt:variant>
        <vt:i4>19</vt:i4>
      </vt:variant>
      <vt:variant>
        <vt:lpstr>Thème</vt:lpstr>
      </vt:variant>
      <vt:variant>
        <vt:i4>3</vt:i4>
      </vt:variant>
      <vt:variant>
        <vt:lpstr>Serveurs OLE incorporés</vt:lpstr>
      </vt:variant>
      <vt:variant>
        <vt:i4>2</vt:i4>
      </vt:variant>
      <vt:variant>
        <vt:lpstr>Titres des diapositives</vt:lpstr>
      </vt:variant>
      <vt:variant>
        <vt:i4>25</vt:i4>
      </vt:variant>
    </vt:vector>
  </HeadingPairs>
  <TitlesOfParts>
    <vt:vector size="49" baseType="lpstr">
      <vt:lpstr>Aptos</vt:lpstr>
      <vt:lpstr>Arial</vt:lpstr>
      <vt:lpstr>Arial</vt:lpstr>
      <vt:lpstr>Calibri</vt:lpstr>
      <vt:lpstr>FuturaBT Book</vt:lpstr>
      <vt:lpstr>Gotham Book</vt:lpstr>
      <vt:lpstr>Helvetica Neue</vt:lpstr>
      <vt:lpstr>Helvetica Neue Medium</vt:lpstr>
      <vt:lpstr>Inter</vt:lpstr>
      <vt:lpstr>LOREAL Essentielle</vt:lpstr>
      <vt:lpstr>LOREAL Essentielle </vt:lpstr>
      <vt:lpstr>LOREAL Essentielle Black</vt:lpstr>
      <vt:lpstr>LOREAL Essentielle Light</vt:lpstr>
      <vt:lpstr>Montserrat</vt:lpstr>
      <vt:lpstr>Montserrat SemiBold</vt:lpstr>
      <vt:lpstr>Segoe UI Light</vt:lpstr>
      <vt:lpstr>Trebuchet MS</vt:lpstr>
      <vt:lpstr>Verdana</vt:lpstr>
      <vt:lpstr>Wingdings</vt:lpstr>
      <vt:lpstr>22_BasicWhite</vt:lpstr>
      <vt:lpstr>1_DATA</vt:lpstr>
      <vt:lpstr>_AWARD_O+O Data</vt:lpstr>
      <vt:lpstr>Diapositiva de think-cell</vt:lpstr>
      <vt:lpstr>Diapositive think-cell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LOREAL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FLORES DONOSO Alejandro</dc:creator>
  <cp:lastModifiedBy>Bastien DUTHU</cp:lastModifiedBy>
  <cp:revision>4</cp:revision>
  <dcterms:created xsi:type="dcterms:W3CDTF">2025-04-08T17:36:02Z</dcterms:created>
  <dcterms:modified xsi:type="dcterms:W3CDTF">2026-10-09T19:39:10Z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43b7177-c66c-4b22-a350-7ee86f9a1e74_Enabled">
    <vt:lpwstr>true</vt:lpwstr>
  </property>
  <property fmtid="{D5CDD505-2E9C-101B-9397-08002B2CF9AE}" pid="3" name="MSIP_Label_f43b7177-c66c-4b22-a350-7ee86f9a1e74_SetDate">
    <vt:lpwstr>2025-04-08T17:36:54Z</vt:lpwstr>
  </property>
  <property fmtid="{D5CDD505-2E9C-101B-9397-08002B2CF9AE}" pid="4" name="MSIP_Label_f43b7177-c66c-4b22-a350-7ee86f9a1e74_Method">
    <vt:lpwstr>Standard</vt:lpwstr>
  </property>
  <property fmtid="{D5CDD505-2E9C-101B-9397-08002B2CF9AE}" pid="5" name="MSIP_Label_f43b7177-c66c-4b22-a350-7ee86f9a1e74_Name">
    <vt:lpwstr>C1_Internal use</vt:lpwstr>
  </property>
  <property fmtid="{D5CDD505-2E9C-101B-9397-08002B2CF9AE}" pid="6" name="MSIP_Label_f43b7177-c66c-4b22-a350-7ee86f9a1e74_SiteId">
    <vt:lpwstr>e4e1abd9-eac7-4a71-ab52-da5c998aa7ba</vt:lpwstr>
  </property>
  <property fmtid="{D5CDD505-2E9C-101B-9397-08002B2CF9AE}" pid="7" name="MSIP_Label_f43b7177-c66c-4b22-a350-7ee86f9a1e74_ActionId">
    <vt:lpwstr>988c8469-3cf1-48cd-9e57-884a43794c39</vt:lpwstr>
  </property>
  <property fmtid="{D5CDD505-2E9C-101B-9397-08002B2CF9AE}" pid="8" name="MSIP_Label_f43b7177-c66c-4b22-a350-7ee86f9a1e74_ContentBits">
    <vt:lpwstr>2</vt:lpwstr>
  </property>
  <property fmtid="{D5CDD505-2E9C-101B-9397-08002B2CF9AE}" pid="9" name="MSIP_Label_f43b7177-c66c-4b22-a350-7ee86f9a1e74_Tag">
    <vt:lpwstr>10, 3, 0, 1</vt:lpwstr>
  </property>
  <property fmtid="{D5CDD505-2E9C-101B-9397-08002B2CF9AE}" pid="10" name="ClassificationContentMarkingFooterLocations">
    <vt:lpwstr>Office Theme:8\22_BasicWhite:3\1__AWARD_O+O Data:8\_AWARD_O+O Data:3\1_Office Theme:7\23_BasicWhite:3\4_Office Theme:3\2_Office Theme:8\5_Office Theme:8\Conception personnalisée:3</vt:lpwstr>
  </property>
  <property fmtid="{D5CDD505-2E9C-101B-9397-08002B2CF9AE}" pid="11" name="ClassificationContentMarkingFooterText">
    <vt:lpwstr>C1 - Internal use</vt:lpwstr>
  </property>
  <property fmtid="{D5CDD505-2E9C-101B-9397-08002B2CF9AE}" pid="12" name="ContentTypeId">
    <vt:lpwstr>0x010100989234D4E752CD4B9B233F9428C0A237</vt:lpwstr>
  </property>
  <property fmtid="{D5CDD505-2E9C-101B-9397-08002B2CF9AE}" pid="13" name="MediaServiceImageTags">
    <vt:lpwstr/>
  </property>
</Properties>
</file>