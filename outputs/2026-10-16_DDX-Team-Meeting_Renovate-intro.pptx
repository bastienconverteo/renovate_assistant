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95" r:id="rId5"/>
    <p:sldMasterId id="2147483713" r:id="rId6"/>
  </p:sldMasterIdLst>
  <p:notesMasterIdLst>
    <p:notesMasterId r:id="rId8"/>
  </p:notesMasterIdLst>
  <p:sldIdLst>
    <p:sldId id="2147483439" r:id="rId7"/>
    <p:sldId id="2147483440" r:id="rId15"/>
    <p:sldId id="2147483441" r:id="rId16"/>
    <p:sldId id="2147483442" r:id="rId17"/>
    <p:sldId id="2147483443" r:id="rId18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2286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4572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6858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9144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1430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3716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6002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82880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185" userDrawn="1">
          <p15:clr>
            <a:srgbClr val="A4A3A4"/>
          </p15:clr>
        </p15:guide>
        <p15:guide id="3" orient="horz" pos="1264" userDrawn="1">
          <p15:clr>
            <a:srgbClr val="A4A3A4"/>
          </p15:clr>
        </p15:guide>
        <p15:guide id="4" orient="horz" pos="2750" userDrawn="1">
          <p15:clr>
            <a:srgbClr val="A4A3A4"/>
          </p15:clr>
        </p15:guide>
        <p15:guide id="5" orient="horz" pos="2829" userDrawn="1">
          <p15:clr>
            <a:srgbClr val="A4A3A4"/>
          </p15:clr>
        </p15:guide>
        <p15:guide id="6" orient="horz" pos="4077" userDrawn="1">
          <p15:clr>
            <a:srgbClr val="A4A3A4"/>
          </p15:clr>
        </p15:guide>
        <p15:guide id="7" orient="horz" pos="255" userDrawn="1">
          <p15:clr>
            <a:srgbClr val="A4A3A4"/>
          </p15:clr>
        </p15:guide>
        <p15:guide id="8" pos="735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5D552C-1788-6602-969B-C6665C1BF430}" name="TING Elisa" initials="TE" userId="S::elisa.ting@loreal.com::f720f7b1-bc8d-4412-99d0-ff6e75d51674" providerId="AD"/>
  <p188:author id="{0FC8843C-0965-CED1-FD71-B4A8898AD706}" name="LOLLI Juliana" initials="JL" userId="S::Juliana.LOLLI@loreal.com::870176d2-84b4-42cf-a3fb-9430ec1ab211" providerId="AD"/>
  <p188:author id="{0A9D783F-D3E1-AB36-A0BC-7DA71AA4F5C6}" name="CARDIEL Manon" initials="CM" userId="S::manon.cardiel@loreal.com::8006b019-5d56-4151-9260-bb53c39cbe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EAFD"/>
    <a:srgbClr val="41BCCA"/>
    <a:srgbClr val="9B3D30"/>
    <a:srgbClr val="D16D00"/>
    <a:srgbClr val="F69F60"/>
    <a:srgbClr val="87A18E"/>
    <a:srgbClr val="83C28C"/>
    <a:srgbClr val="BDE1C6"/>
    <a:srgbClr val="97AE99"/>
    <a:srgbClr val="BBD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4462A-26A4-8FA7-6FA1-ED7BFB2E7972}" v="285" dt="2026-10-15T14:46:13.328"/>
    <p1510:client id="{C65F459E-504D-A046-8D21-2C633D82B6AC}" v="110" dt="2026-10-15T13:57:11.885"/>
    <p1510:client id="{F1F2C7CA-AB8B-C94A-988C-378104E32D97}" v="5" dt="2026-10-15T21:42:42.13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>
        <p:guide orient="horz" pos="1185"/>
        <p:guide orient="horz" pos="1264"/>
        <p:guide orient="horz" pos="2750"/>
        <p:guide orient="horz" pos="2829"/>
        <p:guide orient="horz" pos="4077"/>
        <p:guide orient="horz" pos="255"/>
        <p:guide pos="73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  <Relationship Id="rId15" Type="http://schemas.openxmlformats.org/officeDocument/2006/relationships/slide" Target="slides/slide2.xml"/>
  <Relationship Id="rId16" Type="http://schemas.openxmlformats.org/officeDocument/2006/relationships/slide" Target="slides/slide3.xml"/>
  <Relationship Id="rId17" Type="http://schemas.openxmlformats.org/officeDocument/2006/relationships/slide" Target="slides/slide4.xml"/>
  <Relationship Id="rId18" Type="http://schemas.openxmlformats.org/officeDocument/2006/relationships/slide" Target="slides/slide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87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microsoft.com/office/2007/relationships/hdphoto" Target="../media/hdphoto2.wdp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4" Type="http://schemas.microsoft.com/office/2007/relationships/hdphoto" Target="../media/hdphoto2.wdp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ERC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42616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6153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3669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2223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ER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437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SUM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51565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M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1201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M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6568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M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1127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39758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5203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129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5928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D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614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D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3318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D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5645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D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546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ENC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43473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ENC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2544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EN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7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ENC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6349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504680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319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78278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88820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VERS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8176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VERS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2278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VERS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5719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VERS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7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590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Diapositive de 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anc, conception&#10;&#10;Description générée automatiquement">
            <a:extLst>
              <a:ext uri="{FF2B5EF4-FFF2-40B4-BE49-F238E27FC236}">
                <a16:creationId xmlns:a16="http://schemas.microsoft.com/office/drawing/2014/main" id="{16A290A6-69B3-9F78-D4B1-A0F671A0A4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048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C69703E-DD4C-056F-C5C4-10C89E67B3DE}"/>
              </a:ext>
            </a:extLst>
          </p:cNvPr>
          <p:cNvGrpSpPr/>
          <p:nvPr userDrawn="1"/>
        </p:nvGrpSpPr>
        <p:grpSpPr>
          <a:xfrm>
            <a:off x="-395934" y="-220772"/>
            <a:ext cx="12983869" cy="7300841"/>
            <a:chOff x="-791818" y="-441545"/>
            <a:chExt cx="25966048" cy="14601682"/>
          </a:xfrm>
        </p:grpSpPr>
        <p:sp>
          <p:nvSpPr>
            <p:cNvPr id="2" name="Graphique 3">
              <a:extLst>
                <a:ext uri="{FF2B5EF4-FFF2-40B4-BE49-F238E27FC236}">
                  <a16:creationId xmlns:a16="http://schemas.microsoft.com/office/drawing/2014/main" id="{1A33B24A-6D1B-E4E7-DA8C-6F0D733C40F8}"/>
                </a:ext>
              </a:extLst>
            </p:cNvPr>
            <p:cNvSpPr/>
            <p:nvPr userDrawn="1"/>
          </p:nvSpPr>
          <p:spPr>
            <a:xfrm>
              <a:off x="-791818" y="-441545"/>
              <a:ext cx="25966048" cy="14601682"/>
            </a:xfrm>
            <a:custGeom>
              <a:avLst/>
              <a:gdLst>
                <a:gd name="connsiteX0" fmla="*/ 0 w 26346939"/>
                <a:gd name="connsiteY0" fmla="*/ 0 h 14815871"/>
                <a:gd name="connsiteX1" fmla="*/ 0 w 26346939"/>
                <a:gd name="connsiteY1" fmla="*/ 14815871 h 14815871"/>
                <a:gd name="connsiteX2" fmla="*/ 26346940 w 26346939"/>
                <a:gd name="connsiteY2" fmla="*/ 14815871 h 14815871"/>
                <a:gd name="connsiteX3" fmla="*/ 26346940 w 26346939"/>
                <a:gd name="connsiteY3" fmla="*/ 0 h 14815871"/>
                <a:gd name="connsiteX4" fmla="*/ 0 w 26346939"/>
                <a:gd name="connsiteY4" fmla="*/ 0 h 14815871"/>
                <a:gd name="connsiteX5" fmla="*/ 25284558 w 26346939"/>
                <a:gd name="connsiteY5" fmla="*/ 13644547 h 14815871"/>
                <a:gd name="connsiteX6" fmla="*/ 24806194 w 26346939"/>
                <a:gd name="connsiteY6" fmla="*/ 14122771 h 14815871"/>
                <a:gd name="connsiteX7" fmla="*/ 15059765 w 26346939"/>
                <a:gd name="connsiteY7" fmla="*/ 14122771 h 14815871"/>
                <a:gd name="connsiteX8" fmla="*/ 14616273 w 26346939"/>
                <a:gd name="connsiteY8" fmla="*/ 13833764 h 14815871"/>
                <a:gd name="connsiteX9" fmla="*/ 14162541 w 26346939"/>
                <a:gd name="connsiteY9" fmla="*/ 13496155 h 14815871"/>
                <a:gd name="connsiteX10" fmla="*/ 14162541 w 26346939"/>
                <a:gd name="connsiteY10" fmla="*/ 13496155 h 14815871"/>
                <a:gd name="connsiteX11" fmla="*/ 14122483 w 26346939"/>
                <a:gd name="connsiteY11" fmla="*/ 13496155 h 14815871"/>
                <a:gd name="connsiteX12" fmla="*/ 12147581 w 26346939"/>
                <a:gd name="connsiteY12" fmla="*/ 13496155 h 14815871"/>
                <a:gd name="connsiteX13" fmla="*/ 12147581 w 26346939"/>
                <a:gd name="connsiteY13" fmla="*/ 13497970 h 14815871"/>
                <a:gd name="connsiteX14" fmla="*/ 11697219 w 26346939"/>
                <a:gd name="connsiteY14" fmla="*/ 13833764 h 14815871"/>
                <a:gd name="connsiteX15" fmla="*/ 11253729 w 26346939"/>
                <a:gd name="connsiteY15" fmla="*/ 14122771 h 14815871"/>
                <a:gd name="connsiteX16" fmla="*/ 1507299 w 26346939"/>
                <a:gd name="connsiteY16" fmla="*/ 14122771 h 14815871"/>
                <a:gd name="connsiteX17" fmla="*/ 1028935 w 26346939"/>
                <a:gd name="connsiteY17" fmla="*/ 13644547 h 14815871"/>
                <a:gd name="connsiteX18" fmla="*/ 1028935 w 26346939"/>
                <a:gd name="connsiteY18" fmla="*/ 1171325 h 14815871"/>
                <a:gd name="connsiteX19" fmla="*/ 1507299 w 26346939"/>
                <a:gd name="connsiteY19" fmla="*/ 693101 h 14815871"/>
                <a:gd name="connsiteX20" fmla="*/ 24806194 w 26346939"/>
                <a:gd name="connsiteY20" fmla="*/ 693101 h 14815871"/>
                <a:gd name="connsiteX21" fmla="*/ 25284558 w 26346939"/>
                <a:gd name="connsiteY21" fmla="*/ 1171325 h 14815871"/>
                <a:gd name="connsiteX22" fmla="*/ 25284558 w 26346939"/>
                <a:gd name="connsiteY22" fmla="*/ 13644418 h 14815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346939" h="14815871">
                  <a:moveTo>
                    <a:pt x="0" y="0"/>
                  </a:moveTo>
                  <a:lnTo>
                    <a:pt x="0" y="14815871"/>
                  </a:lnTo>
                  <a:lnTo>
                    <a:pt x="26346940" y="14815871"/>
                  </a:lnTo>
                  <a:lnTo>
                    <a:pt x="26346940" y="0"/>
                  </a:lnTo>
                  <a:lnTo>
                    <a:pt x="0" y="0"/>
                  </a:lnTo>
                  <a:close/>
                  <a:moveTo>
                    <a:pt x="25284558" y="13644547"/>
                  </a:moveTo>
                  <a:cubicBezTo>
                    <a:pt x="25284558" y="13908671"/>
                    <a:pt x="25070396" y="14122771"/>
                    <a:pt x="24806194" y="14122771"/>
                  </a:cubicBezTo>
                  <a:lnTo>
                    <a:pt x="15059765" y="14122771"/>
                  </a:lnTo>
                  <a:cubicBezTo>
                    <a:pt x="15059765" y="14122771"/>
                    <a:pt x="14712206" y="14106441"/>
                    <a:pt x="14616273" y="13833764"/>
                  </a:cubicBezTo>
                  <a:cubicBezTo>
                    <a:pt x="14516063" y="13548902"/>
                    <a:pt x="14285437" y="13500561"/>
                    <a:pt x="14162541" y="13496155"/>
                  </a:cubicBezTo>
                  <a:lnTo>
                    <a:pt x="14162541" y="13496155"/>
                  </a:lnTo>
                  <a:cubicBezTo>
                    <a:pt x="14147374" y="13495636"/>
                    <a:pt x="14133891" y="13495766"/>
                    <a:pt x="14122483" y="13496155"/>
                  </a:cubicBezTo>
                  <a:lnTo>
                    <a:pt x="12147581" y="13496155"/>
                  </a:lnTo>
                  <a:lnTo>
                    <a:pt x="12147581" y="13497970"/>
                  </a:lnTo>
                  <a:cubicBezTo>
                    <a:pt x="12028833" y="13506005"/>
                    <a:pt x="11813115" y="13560178"/>
                    <a:pt x="11697219" y="13833764"/>
                  </a:cubicBezTo>
                  <a:cubicBezTo>
                    <a:pt x="11584305" y="14100091"/>
                    <a:pt x="11253729" y="14122771"/>
                    <a:pt x="11253729" y="14122771"/>
                  </a:cubicBezTo>
                  <a:lnTo>
                    <a:pt x="1507299" y="14122771"/>
                  </a:lnTo>
                  <a:cubicBezTo>
                    <a:pt x="1243097" y="14122771"/>
                    <a:pt x="1028935" y="13908671"/>
                    <a:pt x="1028935" y="13644547"/>
                  </a:cubicBezTo>
                  <a:lnTo>
                    <a:pt x="1028935" y="1171325"/>
                  </a:lnTo>
                  <a:cubicBezTo>
                    <a:pt x="1028935" y="907200"/>
                    <a:pt x="1243097" y="693101"/>
                    <a:pt x="1507299" y="693101"/>
                  </a:cubicBezTo>
                  <a:lnTo>
                    <a:pt x="24806194" y="693101"/>
                  </a:lnTo>
                  <a:cubicBezTo>
                    <a:pt x="25070396" y="693101"/>
                    <a:pt x="25284558" y="907200"/>
                    <a:pt x="25284558" y="1171325"/>
                  </a:cubicBezTo>
                  <a:lnTo>
                    <a:pt x="25284558" y="13644418"/>
                  </a:lnTo>
                  <a:close/>
                </a:path>
              </a:pathLst>
            </a:custGeom>
            <a:gradFill>
              <a:gsLst>
                <a:gs pos="35000">
                  <a:srgbClr val="1D43F5">
                    <a:alpha val="0"/>
                  </a:srgbClr>
                </a:gs>
                <a:gs pos="50000">
                  <a:srgbClr val="1D43F5"/>
                </a:gs>
                <a:gs pos="65000">
                  <a:srgbClr val="1D43F5">
                    <a:alpha val="0"/>
                  </a:srgbClr>
                </a:gs>
              </a:gsLst>
              <a:lin ang="0" scaled="1"/>
            </a:gradFill>
            <a:ln w="3175" cap="flat">
              <a:solidFill>
                <a:srgbClr val="1D43F5"/>
              </a:solidFill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fr-FR" sz="900"/>
            </a:p>
          </p:txBody>
        </p:sp>
        <p:pic>
          <p:nvPicPr>
            <p:cNvPr id="6" name="vidéo-collée.png" descr="vidéo-collée.png">
              <a:extLst>
                <a:ext uri="{FF2B5EF4-FFF2-40B4-BE49-F238E27FC236}">
                  <a16:creationId xmlns:a16="http://schemas.microsoft.com/office/drawing/2014/main" id="{4036ACE2-95B2-8039-D610-B99B109886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454841" y="13084388"/>
              <a:ext cx="1472732" cy="427092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574012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0">
          <p15:clr>
            <a:srgbClr val="FBAE40"/>
          </p15:clr>
        </p15:guide>
        <p15:guide id="2" pos="3070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ASMITA 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60C86F3B-A58B-AAC1-C8A9-817DAE855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187BEE0-B1BA-14F7-7638-7D5F99797A6C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9000">
                  <a:schemeClr val="tx1">
                    <a:alpha val="0"/>
                  </a:schemeClr>
                </a:gs>
                <a:gs pos="46000">
                  <a:schemeClr val="tx1">
                    <a:alpha val="0"/>
                  </a:schemeClr>
                </a:gs>
                <a:gs pos="17000">
                  <a:schemeClr val="tx1"/>
                </a:gs>
                <a:gs pos="84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23724061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8810436-92C7-9E3F-49BE-25D9F2840CA6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9000">
                  <a:schemeClr val="tx1">
                    <a:alpha val="0"/>
                  </a:schemeClr>
                </a:gs>
                <a:gs pos="46000">
                  <a:schemeClr val="tx1">
                    <a:alpha val="0"/>
                  </a:schemeClr>
                </a:gs>
                <a:gs pos="17000">
                  <a:schemeClr val="tx1"/>
                </a:gs>
                <a:gs pos="84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pic>
        <p:nvPicPr>
          <p:cNvPr id="4" name="vidéo-collée.png" descr="vidéo-collée.png">
            <a:extLst>
              <a:ext uri="{FF2B5EF4-FFF2-40B4-BE49-F238E27FC236}">
                <a16:creationId xmlns:a16="http://schemas.microsoft.com/office/drawing/2014/main" id="{C99D2549-51AE-3FB4-F345-F31C92575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9229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W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éo-collée.png" descr="vidéo-collée.png">
            <a:extLst>
              <a:ext uri="{FF2B5EF4-FFF2-40B4-BE49-F238E27FC236}">
                <a16:creationId xmlns:a16="http://schemas.microsoft.com/office/drawing/2014/main" id="{C99D2549-51AE-3FB4-F345-F31C92575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AA02353-003F-6158-9EE2-18DAFE2D40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FFC658">
                    <a:alpha val="0"/>
                  </a:srgbClr>
                </a:gs>
                <a:gs pos="59000">
                  <a:srgbClr val="FFC658">
                    <a:alpha val="0"/>
                  </a:srgbClr>
                </a:gs>
                <a:gs pos="46000">
                  <a:srgbClr val="FFC658">
                    <a:alpha val="0"/>
                  </a:srgbClr>
                </a:gs>
                <a:gs pos="17000">
                  <a:srgbClr val="FFC658"/>
                </a:gs>
                <a:gs pos="84000">
                  <a:srgbClr val="FFC658">
                    <a:alpha val="74000"/>
                  </a:srgbClr>
                </a:gs>
                <a:gs pos="100000">
                  <a:srgbClr val="FFC658"/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7312007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B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0E5B245-6185-DECD-86E5-2F6A86E528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9000">
                  <a:schemeClr val="bg1">
                    <a:alpha val="0"/>
                  </a:schemeClr>
                </a:gs>
                <a:gs pos="46000">
                  <a:schemeClr val="bg1">
                    <a:alpha val="0"/>
                  </a:schemeClr>
                </a:gs>
                <a:gs pos="17000">
                  <a:schemeClr val="bg1"/>
                </a:gs>
                <a:gs pos="8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449660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14457A0-F7A3-EC57-3A49-E10A787FCBFE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FFC658">
                    <a:alpha val="0"/>
                  </a:srgbClr>
                </a:gs>
                <a:gs pos="59000">
                  <a:srgbClr val="FFC658">
                    <a:alpha val="0"/>
                  </a:srgbClr>
                </a:gs>
                <a:gs pos="46000">
                  <a:srgbClr val="FFC658">
                    <a:alpha val="0"/>
                  </a:srgbClr>
                </a:gs>
                <a:gs pos="17000">
                  <a:srgbClr val="FFC658"/>
                </a:gs>
                <a:gs pos="84000">
                  <a:srgbClr val="FFC658">
                    <a:alpha val="74000"/>
                  </a:srgbClr>
                </a:gs>
                <a:gs pos="100000">
                  <a:srgbClr val="FFC658"/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18077173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BDESI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0E5B245-6185-DECD-86E5-2F6A86E528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D58893">
                    <a:alpha val="0"/>
                  </a:srgbClr>
                </a:gs>
                <a:gs pos="59000">
                  <a:srgbClr val="D58893">
                    <a:alpha val="0"/>
                  </a:srgbClr>
                </a:gs>
                <a:gs pos="46000">
                  <a:srgbClr val="D58893">
                    <a:alpha val="0"/>
                  </a:srgbClr>
                </a:gs>
                <a:gs pos="17000">
                  <a:srgbClr val="D58893"/>
                </a:gs>
                <a:gs pos="84000">
                  <a:srgbClr val="D58893"/>
                </a:gs>
                <a:gs pos="100000">
                  <a:srgbClr val="D58893">
                    <a:alpha val="0"/>
                  </a:srgb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812242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WDESI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0E5B245-6185-DECD-86E5-2F6A86E528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D58893">
                    <a:alpha val="0"/>
                  </a:srgbClr>
                </a:gs>
                <a:gs pos="59000">
                  <a:srgbClr val="D58893">
                    <a:alpha val="0"/>
                  </a:srgbClr>
                </a:gs>
                <a:gs pos="46000">
                  <a:srgbClr val="D58893">
                    <a:alpha val="0"/>
                  </a:srgbClr>
                </a:gs>
                <a:gs pos="17000">
                  <a:srgbClr val="D58893"/>
                </a:gs>
                <a:gs pos="84000">
                  <a:srgbClr val="D58893"/>
                </a:gs>
                <a:gs pos="100000">
                  <a:srgbClr val="D58893">
                    <a:alpha val="0"/>
                  </a:srgb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3385736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695DF4D-415F-AA27-6EF7-49F05A2AA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0147F5E0-A965-E5BC-D8CC-E20BE1B9B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73212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2AEEB35-7C11-DADC-3B2C-DF91EFC837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B7FFC686-87D4-BD2E-47B7-EA3AAE88E1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0394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G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3E1B91-D1D3-621F-8628-79B8E9EAC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4B60240-B932-08FB-21B5-9F8F738A0B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690185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6EAA463-9737-A34C-71B8-F56CC02EC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646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695DF4D-415F-AA27-6EF7-49F05A2AA0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0147F5E0-A965-E5BC-D8CC-E20BE1B9BC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522671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9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3947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ASMITA 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60C86F3B-A58B-AAC1-C8A9-817DAE855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187BEE0-B1BA-14F7-7638-7D5F99797A6C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9000">
                  <a:schemeClr val="tx1">
                    <a:alpha val="0"/>
                  </a:schemeClr>
                </a:gs>
                <a:gs pos="46000">
                  <a:schemeClr val="tx1">
                    <a:alpha val="0"/>
                  </a:schemeClr>
                </a:gs>
                <a:gs pos="17000">
                  <a:schemeClr val="tx1"/>
                </a:gs>
                <a:gs pos="84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5656848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8810436-92C7-9E3F-49BE-25D9F2840CA6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9000">
                  <a:schemeClr val="tx1">
                    <a:alpha val="0"/>
                  </a:schemeClr>
                </a:gs>
                <a:gs pos="46000">
                  <a:schemeClr val="tx1">
                    <a:alpha val="0"/>
                  </a:schemeClr>
                </a:gs>
                <a:gs pos="17000">
                  <a:schemeClr val="tx1"/>
                </a:gs>
                <a:gs pos="84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pic>
        <p:nvPicPr>
          <p:cNvPr id="4" name="vidéo-collée.png" descr="vidéo-collée.png">
            <a:extLst>
              <a:ext uri="{FF2B5EF4-FFF2-40B4-BE49-F238E27FC236}">
                <a16:creationId xmlns:a16="http://schemas.microsoft.com/office/drawing/2014/main" id="{C99D2549-51AE-3FB4-F345-F31C92575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432965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W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éo-collée.png" descr="vidéo-collée.png">
            <a:extLst>
              <a:ext uri="{FF2B5EF4-FFF2-40B4-BE49-F238E27FC236}">
                <a16:creationId xmlns:a16="http://schemas.microsoft.com/office/drawing/2014/main" id="{C99D2549-51AE-3FB4-F345-F31C92575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AA02353-003F-6158-9EE2-18DAFE2D40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FFC658">
                    <a:alpha val="0"/>
                  </a:srgbClr>
                </a:gs>
                <a:gs pos="59000">
                  <a:srgbClr val="FFC658">
                    <a:alpha val="0"/>
                  </a:srgbClr>
                </a:gs>
                <a:gs pos="46000">
                  <a:srgbClr val="FFC658">
                    <a:alpha val="0"/>
                  </a:srgbClr>
                </a:gs>
                <a:gs pos="17000">
                  <a:srgbClr val="FFC658"/>
                </a:gs>
                <a:gs pos="84000">
                  <a:srgbClr val="FFC658">
                    <a:alpha val="74000"/>
                  </a:srgbClr>
                </a:gs>
                <a:gs pos="100000">
                  <a:srgbClr val="FFC658"/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16447679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B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0E5B245-6185-DECD-86E5-2F6A86E528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chemeClr val="bg1">
                    <a:alpha val="0"/>
                  </a:schemeClr>
                </a:gs>
                <a:gs pos="59000">
                  <a:schemeClr val="bg1">
                    <a:alpha val="0"/>
                  </a:schemeClr>
                </a:gs>
                <a:gs pos="46000">
                  <a:schemeClr val="bg1">
                    <a:alpha val="0"/>
                  </a:schemeClr>
                </a:gs>
                <a:gs pos="17000">
                  <a:schemeClr val="bg1"/>
                </a:gs>
                <a:gs pos="8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23502830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14457A0-F7A3-EC57-3A49-E10A787FCBFE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FFC658">
                    <a:alpha val="0"/>
                  </a:srgbClr>
                </a:gs>
                <a:gs pos="59000">
                  <a:srgbClr val="FFC658">
                    <a:alpha val="0"/>
                  </a:srgbClr>
                </a:gs>
                <a:gs pos="46000">
                  <a:srgbClr val="FFC658">
                    <a:alpha val="0"/>
                  </a:srgbClr>
                </a:gs>
                <a:gs pos="17000">
                  <a:srgbClr val="FFC658"/>
                </a:gs>
                <a:gs pos="84000">
                  <a:srgbClr val="FFC658">
                    <a:alpha val="74000"/>
                  </a:srgbClr>
                </a:gs>
                <a:gs pos="100000">
                  <a:srgbClr val="FFC658"/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3282566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BDESI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0E5B245-6185-DECD-86E5-2F6A86E528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D58893">
                    <a:alpha val="0"/>
                  </a:srgbClr>
                </a:gs>
                <a:gs pos="59000">
                  <a:srgbClr val="D58893">
                    <a:alpha val="0"/>
                  </a:srgbClr>
                </a:gs>
                <a:gs pos="46000">
                  <a:srgbClr val="D58893">
                    <a:alpha val="0"/>
                  </a:srgbClr>
                </a:gs>
                <a:gs pos="17000">
                  <a:srgbClr val="D58893"/>
                </a:gs>
                <a:gs pos="84000">
                  <a:srgbClr val="D58893"/>
                </a:gs>
                <a:gs pos="100000">
                  <a:srgbClr val="D58893">
                    <a:alpha val="0"/>
                  </a:srgb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39231834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ASMITA WDESI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0E5B245-6185-DECD-86E5-2F6A86E52860}"/>
              </a:ext>
            </a:extLst>
          </p:cNvPr>
          <p:cNvSpPr/>
          <p:nvPr userDrawn="1"/>
        </p:nvSpPr>
        <p:spPr>
          <a:xfrm>
            <a:off x="139148" y="169605"/>
            <a:ext cx="11907078" cy="6420039"/>
          </a:xfrm>
          <a:prstGeom prst="roundRect">
            <a:avLst>
              <a:gd name="adj" fmla="val 1650"/>
            </a:avLst>
          </a:prstGeom>
          <a:noFill/>
          <a:ln w="25400">
            <a:gradFill flip="none" rotWithShape="1">
              <a:gsLst>
                <a:gs pos="0">
                  <a:srgbClr val="D58893">
                    <a:alpha val="0"/>
                  </a:srgbClr>
                </a:gs>
                <a:gs pos="59000">
                  <a:srgbClr val="D58893">
                    <a:alpha val="0"/>
                  </a:srgbClr>
                </a:gs>
                <a:gs pos="46000">
                  <a:srgbClr val="D58893">
                    <a:alpha val="0"/>
                  </a:srgbClr>
                </a:gs>
                <a:gs pos="17000">
                  <a:srgbClr val="D58893"/>
                </a:gs>
                <a:gs pos="84000">
                  <a:srgbClr val="D58893"/>
                </a:gs>
                <a:gs pos="100000">
                  <a:srgbClr val="D58893">
                    <a:alpha val="0"/>
                  </a:srgbClr>
                </a:gs>
              </a:gsLst>
              <a:lin ang="105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40035988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695DF4D-415F-AA27-6EF7-49F05A2AA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0147F5E0-A965-E5BC-D8CC-E20BE1B9B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92055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2AEEB35-7C11-DADC-3B2C-DF91EFC837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B7FFC686-87D4-BD2E-47B7-EA3AAE88E1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2147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G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3E1B91-D1D3-621F-8628-79B8E9EAC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4B60240-B932-08FB-21B5-9F8F738A0B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538FC03A-48DD-FD8E-5454-E415EFEDF3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86485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ITA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6EAA463-9737-A34C-71B8-F56CC02EC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695DF4D-415F-AA27-6EF7-49F05A2AA0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0147F5E0-A965-E5BC-D8CC-E20BE1B9BC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1242" y="6430435"/>
            <a:ext cx="889518" cy="257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376598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8A7C98-62FE-86E7-FBD9-DF5671B46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9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46303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A2B5DA4-5EEA-C466-2CAE-9D1B4931D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573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59" r:id="rId2"/>
    <p:sldLayoutId id="2147483660" r:id="rId3"/>
    <p:sldLayoutId id="2147483661" r:id="rId4"/>
    <p:sldLayoutId id="2147483694" r:id="rId5"/>
    <p:sldLayoutId id="2147483663" r:id="rId6"/>
    <p:sldLayoutId id="2147483664" r:id="rId7"/>
    <p:sldLayoutId id="2147483665" r:id="rId8"/>
    <p:sldLayoutId id="2147483666" r:id="rId9"/>
    <p:sldLayoutId id="2147483668" r:id="rId10"/>
    <p:sldLayoutId id="2147483669" r:id="rId11"/>
    <p:sldLayoutId id="2147483670" r:id="rId12"/>
    <p:sldLayoutId id="2147483671" r:id="rId13"/>
    <p:sldLayoutId id="2147483673" r:id="rId14"/>
    <p:sldLayoutId id="2147483674" r:id="rId15"/>
    <p:sldLayoutId id="2147483675" r:id="rId16"/>
    <p:sldLayoutId id="2147483676" r:id="rId17"/>
    <p:sldLayoutId id="2147483678" r:id="rId18"/>
    <p:sldLayoutId id="2147483679" r:id="rId19"/>
    <p:sldLayoutId id="2147483680" r:id="rId20"/>
    <p:sldLayoutId id="2147483681" r:id="rId21"/>
    <p:sldLayoutId id="2147483683" r:id="rId22"/>
    <p:sldLayoutId id="2147483684" r:id="rId23"/>
    <p:sldLayoutId id="2147483685" r:id="rId24"/>
    <p:sldLayoutId id="2147483686" r:id="rId25"/>
    <p:sldLayoutId id="2147483688" r:id="rId26"/>
    <p:sldLayoutId id="2147483689" r:id="rId27"/>
    <p:sldLayoutId id="2147483690" r:id="rId28"/>
    <p:sldLayoutId id="2147483691" r:id="rId29"/>
    <p:sldLayoutId id="2147483730" r:id="rId30"/>
    <p:sldLayoutId id="2147483733" r:id="rId31"/>
  </p:sldLayoutIdLst>
  <p:transition spd="med"/>
  <p:txStyles>
    <p:titleStyle>
      <a:lvl1pPr marL="0" marR="0" indent="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96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12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6" r:id="rId12"/>
    <p:sldLayoutId id="2147483729" r:id="rId13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1158-68C1-466D-EBC8-0376BB4C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70E62302-45F3-3587-7D71-0A30F8B7AC9B}"/>
              </a:ext>
            </a:extLst>
          </p:cNvPr>
          <p:cNvSpPr txBox="1"/>
          <p:nvPr/>
        </p:nvSpPr>
        <p:spPr>
          <a:xfrm>
            <a:off x="471890" y="310170"/>
            <a:ext cx="11232686" cy="390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lang="fr-FR" sz="2450" spc="-123">
                <a:solidFill>
                  <a:srgbClr val="7030A0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/</a:t>
            </a:r>
            <a:r>
              <a:rPr lang="fr-FR" sz="2450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lang="fr-CA" sz="2450" b="1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ELEVATE</a:t>
            </a:r>
            <a:endParaRPr sz="2450" b="1" i="1" cap="all" spc="-123">
              <a:solidFill>
                <a:schemeClr val="tx1"/>
              </a:solidFill>
              <a:latin typeface="LOREAL Essentielle Black" pitchFamily="2" charset="77"/>
              <a:ea typeface="LOREAL Essentielle"/>
              <a:cs typeface="LOREAL Essentielle"/>
              <a:sym typeface="LOREAL Essentielle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1E4C314-7095-6109-F823-F07E8D73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74" y="6383148"/>
            <a:ext cx="1383111" cy="385344"/>
          </a:xfrm>
          <a:prstGeom prst="rect">
            <a:avLst/>
          </a:prstGeom>
        </p:spPr>
      </p:pic>
      <p:pic>
        <p:nvPicPr>
          <p:cNvPr id="56" name="imageSelected0">
            <a:extLst>
              <a:ext uri="{FF2B5EF4-FFF2-40B4-BE49-F238E27FC236}">
                <a16:creationId xmlns:a16="http://schemas.microsoft.com/office/drawing/2014/main" id="{FA4C6BF0-A274-91C3-5EC7-B9C7587AA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199" y="229206"/>
            <a:ext cx="1255792" cy="55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68B1823-3A02-C6B9-42C2-11BD792AC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67" y="120831"/>
            <a:ext cx="2778432" cy="769297"/>
          </a:xfrm>
          <a:prstGeom prst="rect">
            <a:avLst/>
          </a:prstGeom>
        </p:spPr>
      </p:pic>
      <p:sp>
        <p:nvSpPr>
          <p:cNvPr id="1059" name="Container 1059"/>
          <p:cNvSpPr/>
          <p:nvPr/>
        </p:nvSpPr>
        <p:spPr>
          <a:xfrm>
            <a:off x="981151" y="1046988"/>
            <a:ext cx="10203789" cy="5168188"/>
          </a:xfrm>
          <a:prstGeom prst="roundRect">
            <a:avLst>
              <a:gd name="adj" fmla="val 4336"/>
            </a:avLst>
          </a:prstGeom>
          <a:solidFill>
            <a:srgbClr val="CCECFF"/>
          </a:solidFill>
          <a:ln>
            <a:noFill/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60" name="Panel 1060"/>
          <p:cNvSpPr/>
          <p:nvPr/>
        </p:nvSpPr>
        <p:spPr>
          <a:xfrm>
            <a:off x="1234440" y="1280160"/>
            <a:ext cx="9723729" cy="1170432"/>
          </a:xfrm>
          <a:prstGeom prst="roundRect">
            <a:avLst>
              <a:gd name="adj" fmla="val 10000"/>
            </a:avLst>
          </a:prstGeom>
          <a:solidFill>
            <a:srgbClr val="005180"/>
          </a:solidFill>
          <a:ln>
            <a:noFill/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61" name="Text 1061"/>
          <p:cNvSpPr txBox="1"/>
          <p:nvPr/>
        </p:nvSpPr>
        <p:spPr>
          <a:xfrm>
            <a:off x="1508760" y="1353312"/>
            <a:ext cx="5760720" cy="10241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41BCCA"/>
                </a:solidFill>
                <a:latin typeface="Calibri"/>
                <a:cs typeface="Calibri"/>
              </a:rPr>
              <a:t>OBJECTIVE OF THIS SLOT</a:t>
            </a:r>
            <a:endParaRPr lang="en-US" sz="12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cs typeface="Calibri"/>
              </a:rPr>
              <a:t>Share a common understanding of Elevate and align on next steps for the team</a:t>
            </a:r>
            <a:endParaRPr lang="en-US" sz="1200"/>
          </a:p>
        </p:txBody>
      </p:sp>
      <p:pic>
        <p:nvPicPr>
          <p:cNvPr id="1062" name="Photo 1062"/>
          <p:cNvPicPr>
            <a:picLocks noChangeAspect="1"/>
          </p:cNvPicPr>
          <p:nvPr/>
        </p:nvPicPr>
        <p:blipFill>
          <a:blip r:embed="rId5"/>
          <a:srcRect l="1204" r="1204"/>
          <a:stretch>
            <a:fillRect/>
          </a:stretch>
        </p:blipFill>
        <p:spPr>
          <a:xfrm>
            <a:off x="7163409" y="1481328"/>
            <a:ext cx="768096" cy="768096"/>
          </a:xfrm>
          <a:prstGeom prst="ellipse">
            <a:avLst/>
          </a:prstGeom>
          <a:ln w="19050">
            <a:solidFill>
              <a:srgbClr val="FFFFFF"/>
            </a:solidFill>
          </a:ln>
        </p:spPr>
      </p:pic>
      <p:sp>
        <p:nvSpPr>
          <p:cNvPr id="1063" name="Text 1063"/>
          <p:cNvSpPr txBox="1"/>
          <p:nvPr/>
        </p:nvSpPr>
        <p:spPr>
          <a:xfrm>
            <a:off x="8004657" y="1591056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Bastien</a:t>
            </a:r>
            <a:endParaRPr lang="en-US" sz="12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FFFFFF"/>
                </a:solidFill>
                <a:latin typeface="Calibri"/>
                <a:cs typeface="Calibri"/>
              </a:rPr>
              <a:t>DUTHU</a:t>
            </a:r>
            <a:endParaRPr lang="en-US" sz="1200"/>
          </a:p>
        </p:txBody>
      </p:sp>
      <p:pic>
        <p:nvPicPr>
          <p:cNvPr id="1064" name="Photo 1064"/>
          <p:cNvPicPr>
            <a:picLocks noChangeAspect="1"/>
          </p:cNvPicPr>
          <p:nvPr/>
        </p:nvPicPr>
        <p:blipFill>
          <a:blip r:embed="rId6"/>
          <a:srcRect l="8232" t="11744" r="12534" b="34226"/>
          <a:stretch>
            <a:fillRect/>
          </a:stretch>
        </p:blipFill>
        <p:spPr>
          <a:xfrm>
            <a:off x="9037929" y="1481328"/>
            <a:ext cx="768096" cy="768096"/>
          </a:xfrm>
          <a:prstGeom prst="ellipse">
            <a:avLst/>
          </a:prstGeom>
          <a:ln w="19050">
            <a:solidFill>
              <a:srgbClr val="FFFFFF"/>
            </a:solidFill>
          </a:ln>
        </p:spPr>
      </p:pic>
      <p:sp>
        <p:nvSpPr>
          <p:cNvPr id="1065" name="Text 1065"/>
          <p:cNvSpPr txBox="1"/>
          <p:nvPr/>
        </p:nvSpPr>
        <p:spPr>
          <a:xfrm>
            <a:off x="9879177" y="1591056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Mezyan</a:t>
            </a:r>
            <a:endParaRPr lang="en-US" sz="12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FFFFFF"/>
                </a:solidFill>
                <a:latin typeface="Calibri"/>
                <a:cs typeface="Calibri"/>
              </a:rPr>
              <a:t>YOUSFI</a:t>
            </a:r>
            <a:endParaRPr lang="en-US" sz="1200"/>
          </a:p>
        </p:txBody>
      </p:sp>
      <p:sp>
        <p:nvSpPr>
          <p:cNvPr id="1066" name="Step card 1066"/>
          <p:cNvSpPr/>
          <p:nvPr/>
        </p:nvSpPr>
        <p:spPr>
          <a:xfrm>
            <a:off x="1234440" y="2788920"/>
            <a:ext cx="2966923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67" name="Step number 1067"/>
          <p:cNvSpPr/>
          <p:nvPr/>
        </p:nvSpPr>
        <p:spPr>
          <a:xfrm>
            <a:off x="1463040" y="2999232"/>
            <a:ext cx="566928" cy="566928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lang="en-US" sz="1200"/>
          </a:p>
        </p:txBody>
      </p:sp>
      <p:sp>
        <p:nvSpPr>
          <p:cNvPr id="1068" name="Text 1068"/>
          <p:cNvSpPr txBox="1"/>
          <p:nvPr/>
        </p:nvSpPr>
        <p:spPr>
          <a:xfrm>
            <a:off x="2167128" y="2999232"/>
            <a:ext cx="1915363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005180"/>
                </a:solidFill>
                <a:latin typeface="Calibri"/>
                <a:cs typeface="Calibri"/>
              </a:rPr>
              <a:t>CONTEXT</a:t>
            </a:r>
            <a:endParaRPr lang="en-US" sz="1200"/>
          </a:p>
        </p:txBody>
      </p:sp>
      <p:sp>
        <p:nvSpPr>
          <p:cNvPr id="1069" name="Text 1069"/>
          <p:cNvSpPr txBox="1"/>
          <p:nvPr/>
        </p:nvSpPr>
        <p:spPr>
          <a:xfrm>
            <a:off x="1463040" y="3767328"/>
            <a:ext cx="2555443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What Elevate is and why now</a:t>
            </a:r>
            <a:endParaRPr lang="en-US" sz="120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Scope and stakeholders involved</a:t>
            </a:r>
            <a:endParaRPr lang="en-US" sz="120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Key dates</a:t>
            </a:r>
            <a:endParaRPr lang="en-US" sz="1200"/>
          </a:p>
        </p:txBody>
      </p:sp>
      <p:sp>
        <p:nvSpPr>
          <p:cNvPr id="1070" name="Arrow 1070"/>
          <p:cNvSpPr/>
          <p:nvPr/>
        </p:nvSpPr>
        <p:spPr>
          <a:xfrm>
            <a:off x="4274515" y="4160520"/>
            <a:ext cx="265176" cy="384048"/>
          </a:xfrm>
          <a:prstGeom prst="chevron">
            <a:avLst/>
          </a:prstGeom>
          <a:solidFill>
            <a:srgbClr val="005180"/>
          </a:solidFill>
          <a:ln>
            <a:noFill/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71" name="Step card 1071"/>
          <p:cNvSpPr/>
          <p:nvPr/>
        </p:nvSpPr>
        <p:spPr>
          <a:xfrm>
            <a:off x="4612843" y="2788920"/>
            <a:ext cx="2966923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72" name="Step number 1072"/>
          <p:cNvSpPr/>
          <p:nvPr/>
        </p:nvSpPr>
        <p:spPr>
          <a:xfrm>
            <a:off x="4841443" y="2999232"/>
            <a:ext cx="566928" cy="566928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1073" name="Text 1073"/>
          <p:cNvSpPr txBox="1"/>
          <p:nvPr/>
        </p:nvSpPr>
        <p:spPr>
          <a:xfrm>
            <a:off x="5545531" y="2999232"/>
            <a:ext cx="1915363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005180"/>
                </a:solidFill>
                <a:latin typeface="Calibri"/>
                <a:cs typeface="Calibri"/>
              </a:rPr>
              <a:t>UNDERSTANDING</a:t>
            </a:r>
            <a:endParaRPr lang="en-US" sz="1200"/>
          </a:p>
        </p:txBody>
      </p:sp>
      <p:sp>
        <p:nvSpPr>
          <p:cNvPr id="1074" name="Text 1074"/>
          <p:cNvSpPr txBox="1"/>
          <p:nvPr/>
        </p:nvSpPr>
        <p:spPr>
          <a:xfrm>
            <a:off x="4841443" y="3767328"/>
            <a:ext cx="2555443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What it changes for DDX Canada</a:t>
            </a:r>
            <a:endParaRPr lang="en-US" sz="120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Impacts on data, dashboards and ways of working</a:t>
            </a:r>
            <a:endParaRPr lang="en-US" sz="120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Open questions to clarify</a:t>
            </a:r>
            <a:endParaRPr lang="en-US" sz="1200"/>
          </a:p>
        </p:txBody>
      </p:sp>
      <p:sp>
        <p:nvSpPr>
          <p:cNvPr id="1075" name="Arrow 1075"/>
          <p:cNvSpPr/>
          <p:nvPr/>
        </p:nvSpPr>
        <p:spPr>
          <a:xfrm>
            <a:off x="7652918" y="4160520"/>
            <a:ext cx="265176" cy="384048"/>
          </a:xfrm>
          <a:prstGeom prst="chevron">
            <a:avLst/>
          </a:prstGeom>
          <a:solidFill>
            <a:srgbClr val="005180"/>
          </a:solidFill>
          <a:ln>
            <a:noFill/>
          </a:ln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76" name="Step card 1076"/>
          <p:cNvSpPr/>
          <p:nvPr/>
        </p:nvSpPr>
        <p:spPr>
          <a:xfrm>
            <a:off x="7991246" y="2788920"/>
            <a:ext cx="2966923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3152" tIns="73152" rIns="73152" bIns="73152" rtlCol="0" anchor="ctr">
            <a:noAutofit/>
          </a:bodyPr>
          <a:lstStyle/>
          <a:p>
            <a:endParaRPr lang="en-US"/>
          </a:p>
        </p:txBody>
      </p:sp>
      <p:sp>
        <p:nvSpPr>
          <p:cNvPr id="1077" name="Step number 1077"/>
          <p:cNvSpPr/>
          <p:nvPr/>
        </p:nvSpPr>
        <p:spPr>
          <a:xfrm>
            <a:off x="8219846" y="2999232"/>
            <a:ext cx="566928" cy="566928"/>
          </a:xfrm>
          <a:prstGeom prst="ellipse">
            <a:avLst/>
          </a:prstGeom>
          <a:solidFill>
            <a:srgbClr val="00518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lang="en-US" sz="1200"/>
          </a:p>
        </p:txBody>
      </p:sp>
      <p:sp>
        <p:nvSpPr>
          <p:cNvPr id="1078" name="Text 1078"/>
          <p:cNvSpPr txBox="1"/>
          <p:nvPr/>
        </p:nvSpPr>
        <p:spPr>
          <a:xfrm>
            <a:off x="8923934" y="2999232"/>
            <a:ext cx="1915363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005180"/>
                </a:solidFill>
                <a:latin typeface="Calibri"/>
                <a:cs typeface="Calibri"/>
              </a:rPr>
              <a:t>NEXT STEPS</a:t>
            </a:r>
            <a:endParaRPr lang="en-US" sz="1200"/>
          </a:p>
        </p:txBody>
      </p:sp>
      <p:sp>
        <p:nvSpPr>
          <p:cNvPr id="1079" name="Text 1079"/>
          <p:cNvSpPr txBox="1"/>
          <p:nvPr/>
        </p:nvSpPr>
        <p:spPr>
          <a:xfrm>
            <a:off x="8219846" y="3767328"/>
            <a:ext cx="2555443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Actions and owners</a:t>
            </a:r>
            <a:endParaRPr lang="en-US" sz="120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Upcoming milestones</a:t>
            </a:r>
            <a:endParaRPr lang="en-US" sz="120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0" i="0">
                <a:solidFill>
                  <a:srgbClr val="000000"/>
                </a:solidFill>
                <a:latin typeface="Calibri"/>
                <a:cs typeface="Calibri"/>
              </a:rPr>
              <a:t>How each team member gets involved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3551665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1158-68C1-466D-EBC8-0376BB4C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70E62302-45F3-3587-7D71-0A30F8B7AC9B}"/>
              </a:ext>
            </a:extLst>
          </p:cNvPr>
          <p:cNvSpPr txBox="1"/>
          <p:nvPr/>
        </p:nvSpPr>
        <p:spPr>
          <a:xfrm>
            <a:off x="471890" y="310170"/>
            <a:ext cx="11232686" cy="390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lang="fr-FR" sz="2450" spc="-123">
                <a:solidFill>
                  <a:srgbClr val="7030A0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/</a:t>
            </a:r>
            <a:r>
              <a:rPr lang="fr-FR" sz="2450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lang="fr-CA" sz="2450" b="1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ELEVATE</a:t>
            </a:r>
            <a:endParaRPr sz="2450" b="1" i="1" cap="all" spc="-123">
              <a:solidFill>
                <a:schemeClr val="tx1"/>
              </a:solidFill>
              <a:latin typeface="LOREAL Essentielle Black" pitchFamily="2" charset="77"/>
              <a:ea typeface="LOREAL Essentielle"/>
              <a:cs typeface="LOREAL Essentielle"/>
              <a:sym typeface="LOREAL Essentielle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1E4C314-7095-6109-F823-F07E8D73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74" y="6383148"/>
            <a:ext cx="1383111" cy="385344"/>
          </a:xfrm>
          <a:prstGeom prst="rect">
            <a:avLst/>
          </a:prstGeom>
        </p:spPr>
      </p:pic>
      <p:pic>
        <p:nvPicPr>
          <p:cNvPr id="56" name="imageSelected0">
            <a:extLst>
              <a:ext uri="{FF2B5EF4-FFF2-40B4-BE49-F238E27FC236}">
                <a16:creationId xmlns:a16="http://schemas.microsoft.com/office/drawing/2014/main" id="{FA4C6BF0-A274-91C3-5EC7-B9C7587AA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199" y="229206"/>
            <a:ext cx="1255792" cy="55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68B1823-3A02-C6B9-42C2-11BD792AC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67" y="120831"/>
            <a:ext cx="2778432" cy="769297"/>
          </a:xfrm>
          <a:prstGeom prst="rect">
            <a:avLst/>
          </a:prstGeom>
        </p:spPr>
      </p:pic>
      <p:sp>
        <p:nvSpPr>
          <p:cNvPr id="3001" name="Container 3001"/>
          <p:cNvSpPr/>
          <p:nvPr/>
        </p:nvSpPr>
        <p:spPr>
          <a:xfrm>
            <a:off x="981151" y="1046988"/>
            <a:ext cx="10203790" cy="5168189"/>
          </a:xfrm>
          <a:prstGeom prst="roundRect">
            <a:avLst>
              <a:gd name="adj" fmla="val 4336"/>
            </a:avLst>
          </a:prstGeom>
          <a:solidFill>
            <a:srgbClr val="CCECFF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02" name="Panel 3002"/>
          <p:cNvSpPr/>
          <p:nvPr/>
        </p:nvSpPr>
        <p:spPr>
          <a:xfrm>
            <a:off x="1234440" y="1261872"/>
            <a:ext cx="9723730" cy="841248"/>
          </a:xfrm>
          <a:prstGeom prst="roundRect">
            <a:avLst>
              <a:gd name="adj" fmla="val 10000"/>
            </a:avLst>
          </a:prstGeom>
          <a:solidFill>
            <a:srgbClr val="005180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03" name="Title 3003"/>
          <p:cNvSpPr txBox="1"/>
          <p:nvPr/>
        </p:nvSpPr>
        <p:spPr>
          <a:xfrm>
            <a:off x="1481328" y="1298448"/>
            <a:ext cx="9235440" cy="7680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1-2 · CONTEXT AND IMPACT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Renovate: one data layer for the Americas, and what it changes for us</a:t>
            </a:r>
          </a:p>
        </p:txBody>
      </p:sp>
      <p:sp>
        <p:nvSpPr>
          <p:cNvPr id="3004" name="Hook card 3004"/>
          <p:cNvSpPr/>
          <p:nvPr/>
        </p:nvSpPr>
        <p:spPr>
          <a:xfrm>
            <a:off x="1234440" y="2395728"/>
            <a:ext cx="4297680" cy="3474720"/>
          </a:xfrm>
          <a:prstGeom prst="roundRect">
            <a:avLst>
              <a:gd name="adj" fmla="val 6000"/>
            </a:avLst>
          </a:prstGeom>
          <a:solidFill>
            <a:srgbClr val="005180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05" name="Hook 3005"/>
          <p:cNvSpPr txBox="1"/>
          <p:nvPr/>
        </p:nvSpPr>
        <p:spPr>
          <a:xfrm>
            <a:off x="1463040" y="256032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TODAY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/>
                <a:cs typeface="Calibri"/>
              </a:rPr>
              <a:t xml:space="preserve">“How many engaged customers do we have?”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DDX Scorecard: </a:t>
            </a:r>
            <a:r>
              <a:rPr lang="en-US" sz="1400" b="0" i="0" dirty="0">
                <a:solidFill>
                  <a:srgbClr val="CFE3EE"/>
                </a:solidFill>
                <a:latin typeface="Calibri"/>
                <a:cs typeface="Calibri"/>
              </a:rPr>
              <a:t xml:space="preserve">one answer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BAR dashboard: </a:t>
            </a:r>
            <a:r>
              <a:rPr lang="en-US" sz="1400" b="0" i="0" dirty="0">
                <a:solidFill>
                  <a:srgbClr val="CFE3EE"/>
                </a:solidFill>
                <a:latin typeface="Calibri"/>
                <a:cs typeface="Calibri"/>
              </a:rPr>
              <a:t xml:space="preserve">another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41BCC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LiveRamp file: </a:t>
            </a:r>
            <a:r>
              <a:rPr lang="en-US" sz="1400" b="0" i="0" dirty="0">
                <a:solidFill>
                  <a:srgbClr val="CFE3EE"/>
                </a:solidFill>
                <a:latin typeface="Calibri"/>
                <a:cs typeface="Calibri"/>
              </a:rPr>
              <a:t xml:space="preserve">a third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3B24B"/>
                </a:solidFill>
                <a:latin typeface="Calibri"/>
                <a:cs typeface="Calibri"/>
              </a:rPr>
              <a:t xml:space="preserve">Tomorrow: one answer, everywhere.</a:t>
            </a:r>
          </a:p>
        </p:txBody>
      </p:sp>
      <p:sp>
        <p:nvSpPr>
          <p:cNvPr id="3006" name="Layer 3006"/>
          <p:cNvSpPr/>
          <p:nvPr/>
        </p:nvSpPr>
        <p:spPr>
          <a:xfrm>
            <a:off x="5760720" y="2395728"/>
            <a:ext cx="1371600" cy="658368"/>
          </a:xfrm>
          <a:prstGeom prst="roundRect">
            <a:avLst>
              <a:gd name="adj" fmla="val 12000"/>
            </a:avLst>
          </a:prstGeom>
          <a:solidFill>
            <a:srgbClr val="C98B5E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A37"/>
                </a:solidFill>
                <a:latin typeface="Calibri"/>
                <a:cs typeface="Calibri"/>
              </a:rPr>
              <a:t xml:space="preserve">Bronze · raw</a:t>
            </a:r>
          </a:p>
        </p:txBody>
      </p:sp>
      <p:sp>
        <p:nvSpPr>
          <p:cNvPr id="3007" name="Arrow 3007"/>
          <p:cNvSpPr/>
          <p:nvPr/>
        </p:nvSpPr>
        <p:spPr>
          <a:xfrm>
            <a:off x="7196328" y="2587752"/>
            <a:ext cx="128016" cy="274320"/>
          </a:xfrm>
          <a:prstGeom prst="chevron">
            <a:avLst/>
          </a:prstGeom>
          <a:solidFill>
            <a:srgbClr val="005180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08" name="Layer 3008"/>
          <p:cNvSpPr/>
          <p:nvPr/>
        </p:nvSpPr>
        <p:spPr>
          <a:xfrm>
            <a:off x="7388352" y="2395728"/>
            <a:ext cx="1463040" cy="658368"/>
          </a:xfrm>
          <a:prstGeom prst="roundRect">
            <a:avLst>
              <a:gd name="adj" fmla="val 12000"/>
            </a:avLst>
          </a:prstGeom>
          <a:solidFill>
            <a:srgbClr val="C9D1D9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A37"/>
                </a:solidFill>
                <a:latin typeface="Calibri"/>
                <a:cs typeface="Calibri"/>
              </a:rPr>
              <a:t xml:space="preserve">Silver · cleaned</a:t>
            </a:r>
          </a:p>
        </p:txBody>
      </p:sp>
      <p:sp>
        <p:nvSpPr>
          <p:cNvPr id="3009" name="Arrow 3009"/>
          <p:cNvSpPr/>
          <p:nvPr/>
        </p:nvSpPr>
        <p:spPr>
          <a:xfrm>
            <a:off x="8915400" y="2587752"/>
            <a:ext cx="128016" cy="274320"/>
          </a:xfrm>
          <a:prstGeom prst="chevron">
            <a:avLst/>
          </a:prstGeom>
          <a:solidFill>
            <a:srgbClr val="005180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10" name="Layer 3010"/>
          <p:cNvSpPr/>
          <p:nvPr/>
        </p:nvSpPr>
        <p:spPr>
          <a:xfrm>
            <a:off x="9107424" y="2395728"/>
            <a:ext cx="1810512" cy="658368"/>
          </a:xfrm>
          <a:prstGeom prst="roundRect">
            <a:avLst>
              <a:gd name="adj" fmla="val 12000"/>
            </a:avLst>
          </a:prstGeom>
          <a:solidFill>
            <a:srgbClr val="F3B24B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A37"/>
                </a:solidFill>
                <a:latin typeface="Calibri"/>
                <a:cs typeface="Calibri"/>
              </a:rPr>
              <a:t xml:space="preserve">Gold · ready to use</a:t>
            </a:r>
          </a:p>
        </p:txBody>
      </p:sp>
      <p:sp>
        <p:nvSpPr>
          <p:cNvPr id="3011" name="Feeds 3011"/>
          <p:cNvSpPr txBox="1"/>
          <p:nvPr/>
        </p:nvSpPr>
        <p:spPr>
          <a:xfrm>
            <a:off x="5760720" y="31272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Built by Americas IT in Databricks. Feeds </a:t>
            </a:r>
            <a:r>
              <a:rPr lang="en-US" sz="12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dashboards, SFMC, Attentive, LiveRamp, Genie</a:t>
            </a:r>
          </a:p>
        </p:txBody>
      </p:sp>
      <p:sp>
        <p:nvSpPr>
          <p:cNvPr id="3012" name="Change 3012"/>
          <p:cNvSpPr/>
          <p:nvPr/>
        </p:nvSpPr>
        <p:spPr>
          <a:xfrm>
            <a:off x="5760720" y="3611880"/>
            <a:ext cx="519745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13" name="Step number 3013"/>
          <p:cNvSpPr/>
          <p:nvPr/>
        </p:nvSpPr>
        <p:spPr>
          <a:xfrm>
            <a:off x="5897880" y="3739896"/>
            <a:ext cx="420624" cy="420624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1</a:t>
            </a:r>
          </a:p>
        </p:txBody>
      </p:sp>
      <p:sp>
        <p:nvSpPr>
          <p:cNvPr id="3014" name="Change text 3014"/>
          <p:cNvSpPr txBox="1"/>
          <p:nvPr/>
        </p:nvSpPr>
        <p:spPr>
          <a:xfrm>
            <a:off x="6446520" y="3648456"/>
            <a:ext cx="44348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Old tables go away: </a:t>
            </a: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Reports on CRM Base and CRM Reporting get rebuilt on the new layer.</a:t>
            </a:r>
          </a:p>
        </p:txBody>
      </p:sp>
      <p:sp>
        <p:nvSpPr>
          <p:cNvPr id="3015" name="Change 3015"/>
          <p:cNvSpPr/>
          <p:nvPr/>
        </p:nvSpPr>
        <p:spPr>
          <a:xfrm>
            <a:off x="5760720" y="4379976"/>
            <a:ext cx="519745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16" name="Step number 3016"/>
          <p:cNvSpPr/>
          <p:nvPr/>
        </p:nvSpPr>
        <p:spPr>
          <a:xfrm>
            <a:off x="5897880" y="4507992"/>
            <a:ext cx="420624" cy="420624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2</a:t>
            </a:r>
          </a:p>
        </p:txBody>
      </p:sp>
      <p:sp>
        <p:nvSpPr>
          <p:cNvPr id="3017" name="Change text 3017"/>
          <p:cNvSpPr txBox="1"/>
          <p:nvPr/>
        </p:nvSpPr>
        <p:spPr>
          <a:xfrm>
            <a:off x="6446520" y="4416552"/>
            <a:ext cx="44348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Same rules everywhere: </a:t>
            </a: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USA, Canada and LATAM share KPI definitions; Canada adds only its specifics.</a:t>
            </a:r>
          </a:p>
        </p:txBody>
      </p:sp>
      <p:sp>
        <p:nvSpPr>
          <p:cNvPr id="3018" name="Change 3018"/>
          <p:cNvSpPr/>
          <p:nvPr/>
        </p:nvSpPr>
        <p:spPr>
          <a:xfrm>
            <a:off x="5760720" y="5148072"/>
            <a:ext cx="519745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19" name="Step number 3019"/>
          <p:cNvSpPr/>
          <p:nvPr/>
        </p:nvSpPr>
        <p:spPr>
          <a:xfrm>
            <a:off x="5897880" y="5276088"/>
            <a:ext cx="420624" cy="420624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3</a:t>
            </a:r>
          </a:p>
        </p:txBody>
      </p:sp>
      <p:sp>
        <p:nvSpPr>
          <p:cNvPr id="3020" name="Change text 3020"/>
          <p:cNvSpPr txBox="1"/>
          <p:nvPr/>
        </p:nvSpPr>
        <p:spPr>
          <a:xfrm>
            <a:off x="6446520" y="5184648"/>
            <a:ext cx="44348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IT owns the build: </a:t>
            </a: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Data cleaning and new KPIs go through IT’s backlog.</a:t>
            </a:r>
          </a:p>
        </p:txBody>
      </p:sp>
    </p:spTree>
    <p:extLst>
      <p:ext uri="{BB962C8B-B14F-4D97-AF65-F5344CB8AC3E}">
        <p14:creationId xmlns:p14="http://schemas.microsoft.com/office/powerpoint/2010/main" val="20355166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1158-68C1-466D-EBC8-0376BB4C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70E62302-45F3-3587-7D71-0A30F8B7AC9B}"/>
              </a:ext>
            </a:extLst>
          </p:cNvPr>
          <p:cNvSpPr txBox="1"/>
          <p:nvPr/>
        </p:nvSpPr>
        <p:spPr>
          <a:xfrm>
            <a:off x="471890" y="310170"/>
            <a:ext cx="11232686" cy="390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lang="fr-FR" sz="2450" spc="-123">
                <a:solidFill>
                  <a:srgbClr val="7030A0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/</a:t>
            </a:r>
            <a:r>
              <a:rPr lang="fr-FR" sz="2450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lang="fr-CA" sz="2450" b="1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ELEVATE</a:t>
            </a:r>
            <a:endParaRPr sz="2450" b="1" i="1" cap="all" spc="-123">
              <a:solidFill>
                <a:schemeClr val="tx1"/>
              </a:solidFill>
              <a:latin typeface="LOREAL Essentielle Black" pitchFamily="2" charset="77"/>
              <a:ea typeface="LOREAL Essentielle"/>
              <a:cs typeface="LOREAL Essentielle"/>
              <a:sym typeface="LOREAL Essentielle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1E4C314-7095-6109-F823-F07E8D73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74" y="6383148"/>
            <a:ext cx="1383111" cy="385344"/>
          </a:xfrm>
          <a:prstGeom prst="rect">
            <a:avLst/>
          </a:prstGeom>
        </p:spPr>
      </p:pic>
      <p:pic>
        <p:nvPicPr>
          <p:cNvPr id="56" name="imageSelected0">
            <a:extLst>
              <a:ext uri="{FF2B5EF4-FFF2-40B4-BE49-F238E27FC236}">
                <a16:creationId xmlns:a16="http://schemas.microsoft.com/office/drawing/2014/main" id="{FA4C6BF0-A274-91C3-5EC7-B9C7587AA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199" y="229206"/>
            <a:ext cx="1255792" cy="55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68B1823-3A02-C6B9-42C2-11BD792AC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67" y="120831"/>
            <a:ext cx="2778432" cy="769297"/>
          </a:xfrm>
          <a:prstGeom prst="rect">
            <a:avLst/>
          </a:prstGeom>
        </p:spPr>
      </p:pic>
      <p:sp>
        <p:nvSpPr>
          <p:cNvPr id="3021" name="Container 3021"/>
          <p:cNvSpPr/>
          <p:nvPr/>
        </p:nvSpPr>
        <p:spPr>
          <a:xfrm>
            <a:off x="981151" y="1046988"/>
            <a:ext cx="10203790" cy="5168189"/>
          </a:xfrm>
          <a:prstGeom prst="roundRect">
            <a:avLst>
              <a:gd name="adj" fmla="val 4336"/>
            </a:avLst>
          </a:prstGeom>
          <a:solidFill>
            <a:srgbClr val="CCECFF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22" name="Panel 3022"/>
          <p:cNvSpPr/>
          <p:nvPr/>
        </p:nvSpPr>
        <p:spPr>
          <a:xfrm>
            <a:off x="1234440" y="1261872"/>
            <a:ext cx="9723730" cy="841248"/>
          </a:xfrm>
          <a:prstGeom prst="roundRect">
            <a:avLst>
              <a:gd name="adj" fmla="val 10000"/>
            </a:avLst>
          </a:prstGeom>
          <a:solidFill>
            <a:srgbClr val="005180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23" name="Title 3023"/>
          <p:cNvSpPr txBox="1"/>
          <p:nvPr/>
        </p:nvSpPr>
        <p:spPr>
          <a:xfrm>
            <a:off x="1481328" y="1298448"/>
            <a:ext cx="9235440" cy="7680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1 · CONTEXT · WHO IS INVOLVED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Who is involved</a:t>
            </a:r>
          </a:p>
        </p:txBody>
      </p:sp>
      <p:sp>
        <p:nvSpPr>
          <p:cNvPr id="3024" name="Group 3024"/>
          <p:cNvSpPr/>
          <p:nvPr/>
        </p:nvSpPr>
        <p:spPr>
          <a:xfrm>
            <a:off x="1234440" y="2395728"/>
            <a:ext cx="3058363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25" name="Step number 3025"/>
          <p:cNvSpPr/>
          <p:nvPr/>
        </p:nvSpPr>
        <p:spPr>
          <a:xfrm>
            <a:off x="1435608" y="2560320"/>
            <a:ext cx="457200" cy="457200"/>
          </a:xfrm>
          <a:prstGeom prst="ellipse">
            <a:avLst/>
          </a:prstGeom>
          <a:solidFill>
            <a:srgbClr val="F3B2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2A37"/>
                </a:solidFill>
                <a:latin typeface="Calibri"/>
                <a:cs typeface="Calibri"/>
              </a:rPr>
              <a:t xml:space="preserve">1</a:t>
            </a:r>
          </a:p>
        </p:txBody>
      </p:sp>
      <p:sp>
        <p:nvSpPr>
          <p:cNvPr id="3026" name="Group title 3026"/>
          <p:cNvSpPr txBox="1"/>
          <p:nvPr/>
        </p:nvSpPr>
        <p:spPr>
          <a:xfrm>
            <a:off x="2011680" y="2560320"/>
            <a:ext cx="2143963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Canada business</a:t>
            </a:r>
          </a:p>
        </p:txBody>
      </p:sp>
      <p:sp>
        <p:nvSpPr>
          <p:cNvPr id="3027" name="Group people 3027"/>
          <p:cNvSpPr txBox="1"/>
          <p:nvPr/>
        </p:nvSpPr>
        <p:spPr>
          <a:xfrm>
            <a:off x="1463040" y="3200400"/>
            <a:ext cx="2646883" cy="1828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Mezyan Yousfi &amp; Bastien Duthu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Own Canada’s KPI definitions and sign-off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Ale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Final word for Canada</a:t>
            </a:r>
          </a:p>
        </p:txBody>
      </p:sp>
      <p:sp>
        <p:nvSpPr>
          <p:cNvPr id="3028" name="Group 3028"/>
          <p:cNvSpPr/>
          <p:nvPr/>
        </p:nvSpPr>
        <p:spPr>
          <a:xfrm>
            <a:off x="4567123" y="2395728"/>
            <a:ext cx="3058363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29" name="Step number 3029"/>
          <p:cNvSpPr/>
          <p:nvPr/>
        </p:nvSpPr>
        <p:spPr>
          <a:xfrm>
            <a:off x="4768291" y="2560320"/>
            <a:ext cx="457200" cy="457200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2</a:t>
            </a:r>
          </a:p>
        </p:txBody>
      </p:sp>
      <p:sp>
        <p:nvSpPr>
          <p:cNvPr id="3030" name="Group title 3030"/>
          <p:cNvSpPr txBox="1"/>
          <p:nvPr/>
        </p:nvSpPr>
        <p:spPr>
          <a:xfrm>
            <a:off x="5344363" y="2560320"/>
            <a:ext cx="2143963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Americas IT</a:t>
            </a:r>
          </a:p>
        </p:txBody>
      </p:sp>
      <p:sp>
        <p:nvSpPr>
          <p:cNvPr id="3031" name="Group people 3031"/>
          <p:cNvSpPr txBox="1"/>
          <p:nvPr/>
        </p:nvSpPr>
        <p:spPr>
          <a:xfrm>
            <a:off x="4795723" y="3200400"/>
            <a:ext cx="2646883" cy="1828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Deepti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Defines the gold layer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Andres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Builds it (data engineering)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Ajantha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Programme manager, USA, Canada and LATAM</a:t>
            </a:r>
          </a:p>
        </p:txBody>
      </p:sp>
      <p:sp>
        <p:nvSpPr>
          <p:cNvPr id="3032" name="Group 3032"/>
          <p:cNvSpPr/>
          <p:nvPr/>
        </p:nvSpPr>
        <p:spPr>
          <a:xfrm>
            <a:off x="7899806" y="2395728"/>
            <a:ext cx="3058363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33" name="Step number 3033"/>
          <p:cNvSpPr/>
          <p:nvPr/>
        </p:nvSpPr>
        <p:spPr>
          <a:xfrm>
            <a:off x="8100974" y="2560320"/>
            <a:ext cx="457200" cy="457200"/>
          </a:xfrm>
          <a:prstGeom prst="ellipse">
            <a:avLst/>
          </a:prstGeom>
          <a:solidFill>
            <a:srgbClr val="00518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3</a:t>
            </a:r>
          </a:p>
        </p:txBody>
      </p:sp>
      <p:sp>
        <p:nvSpPr>
          <p:cNvPr id="3034" name="Group title 3034"/>
          <p:cNvSpPr txBox="1"/>
          <p:nvPr/>
        </p:nvSpPr>
        <p:spPr>
          <a:xfrm>
            <a:off x="8677046" y="2560320"/>
            <a:ext cx="2143963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Canada data users</a:t>
            </a:r>
          </a:p>
        </p:txBody>
      </p:sp>
      <p:sp>
        <p:nvSpPr>
          <p:cNvPr id="3035" name="Group people 3035"/>
          <p:cNvSpPr txBox="1"/>
          <p:nvPr/>
        </p:nvSpPr>
        <p:spPr>
          <a:xfrm>
            <a:off x="8128406" y="3200400"/>
            <a:ext cx="2646883" cy="1828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Sandra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SFMC and Attentive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Damien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LiveRamp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Thomas &amp; Oli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 i="0" dirty="0">
                <a:solidFill>
                  <a:srgbClr val="4A5A6A"/>
                </a:solidFill>
                <a:latin typeface="Calibri"/>
                <a:cs typeface="Calibri"/>
              </a:rPr>
              <a:t xml:space="preserve">Reporting and Genie</a:t>
            </a:r>
          </a:p>
        </p:txBody>
      </p:sp>
      <p:sp>
        <p:nvSpPr>
          <p:cNvPr id="3036" name="Scope strip 3036"/>
          <p:cNvSpPr/>
          <p:nvPr/>
        </p:nvSpPr>
        <p:spPr>
          <a:xfrm>
            <a:off x="1234440" y="5303520"/>
            <a:ext cx="972373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Scope: </a:t>
            </a:r>
            <a:r>
              <a:rPr lang="en-US" sz="14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consumer data for USA, Canada and LATAM. IT designs it; Canada weighs in on every choice that affects us.</a:t>
            </a:r>
          </a:p>
        </p:txBody>
      </p:sp>
    </p:spTree>
    <p:extLst>
      <p:ext uri="{BB962C8B-B14F-4D97-AF65-F5344CB8AC3E}">
        <p14:creationId xmlns:p14="http://schemas.microsoft.com/office/powerpoint/2010/main" val="203551665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1158-68C1-466D-EBC8-0376BB4C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70E62302-45F3-3587-7D71-0A30F8B7AC9B}"/>
              </a:ext>
            </a:extLst>
          </p:cNvPr>
          <p:cNvSpPr txBox="1"/>
          <p:nvPr/>
        </p:nvSpPr>
        <p:spPr>
          <a:xfrm>
            <a:off x="471890" y="310170"/>
            <a:ext cx="11232686" cy="390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lang="fr-FR" sz="2450" spc="-123">
                <a:solidFill>
                  <a:srgbClr val="7030A0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/</a:t>
            </a:r>
            <a:r>
              <a:rPr lang="fr-FR" sz="2450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lang="fr-CA" sz="2450" b="1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ELEVATE</a:t>
            </a:r>
            <a:endParaRPr sz="2450" b="1" i="1" cap="all" spc="-123">
              <a:solidFill>
                <a:schemeClr val="tx1"/>
              </a:solidFill>
              <a:latin typeface="LOREAL Essentielle Black" pitchFamily="2" charset="77"/>
              <a:ea typeface="LOREAL Essentielle"/>
              <a:cs typeface="LOREAL Essentielle"/>
              <a:sym typeface="LOREAL Essentielle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1E4C314-7095-6109-F823-F07E8D73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74" y="6383148"/>
            <a:ext cx="1383111" cy="385344"/>
          </a:xfrm>
          <a:prstGeom prst="rect">
            <a:avLst/>
          </a:prstGeom>
        </p:spPr>
      </p:pic>
      <p:pic>
        <p:nvPicPr>
          <p:cNvPr id="56" name="imageSelected0">
            <a:extLst>
              <a:ext uri="{FF2B5EF4-FFF2-40B4-BE49-F238E27FC236}">
                <a16:creationId xmlns:a16="http://schemas.microsoft.com/office/drawing/2014/main" id="{FA4C6BF0-A274-91C3-5EC7-B9C7587AA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199" y="229206"/>
            <a:ext cx="1255792" cy="55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68B1823-3A02-C6B9-42C2-11BD792AC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67" y="120831"/>
            <a:ext cx="2778432" cy="769297"/>
          </a:xfrm>
          <a:prstGeom prst="rect">
            <a:avLst/>
          </a:prstGeom>
        </p:spPr>
      </p:pic>
      <p:sp>
        <p:nvSpPr>
          <p:cNvPr id="3037" name="Container 3037"/>
          <p:cNvSpPr/>
          <p:nvPr/>
        </p:nvSpPr>
        <p:spPr>
          <a:xfrm>
            <a:off x="981151" y="1046988"/>
            <a:ext cx="10203790" cy="5168189"/>
          </a:xfrm>
          <a:prstGeom prst="roundRect">
            <a:avLst>
              <a:gd name="adj" fmla="val 4336"/>
            </a:avLst>
          </a:prstGeom>
          <a:solidFill>
            <a:srgbClr val="CCECFF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38" name="Panel 3038"/>
          <p:cNvSpPr/>
          <p:nvPr/>
        </p:nvSpPr>
        <p:spPr>
          <a:xfrm>
            <a:off x="1234440" y="1261872"/>
            <a:ext cx="9723730" cy="841248"/>
          </a:xfrm>
          <a:prstGeom prst="roundRect">
            <a:avLst>
              <a:gd name="adj" fmla="val 10000"/>
            </a:avLst>
          </a:prstGeom>
          <a:solidFill>
            <a:srgbClr val="005180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39" name="Title 3039"/>
          <p:cNvSpPr txBox="1"/>
          <p:nvPr/>
        </p:nvSpPr>
        <p:spPr>
          <a:xfrm>
            <a:off x="1481328" y="1298448"/>
            <a:ext cx="9235440" cy="7680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3 · NEXT STEPS · MILESTONES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road ahead</a:t>
            </a:r>
          </a:p>
        </p:txBody>
      </p:sp>
      <p:sp>
        <p:nvSpPr>
          <p:cNvPr id="3040" name="Step 3040"/>
          <p:cNvSpPr/>
          <p:nvPr/>
        </p:nvSpPr>
        <p:spPr>
          <a:xfrm>
            <a:off x="1234440" y="2651760"/>
            <a:ext cx="1700784" cy="777240"/>
          </a:xfrm>
          <a:prstGeom prst="homePlate">
            <a:avLst>
              <a:gd name="adj" fmla="val 30000"/>
            </a:avLst>
          </a:prstGeom>
          <a:solidFill>
            <a:srgbClr val="005180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Workshops</a:t>
            </a:r>
          </a:p>
        </p:txBody>
      </p:sp>
      <p:sp>
        <p:nvSpPr>
          <p:cNvPr id="3041" name="Step text 3041"/>
          <p:cNvSpPr txBox="1"/>
          <p:nvPr/>
        </p:nvSpPr>
        <p:spPr>
          <a:xfrm>
            <a:off x="1417320" y="3566160"/>
            <a:ext cx="1289304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7 and 15 Oct, with IT</a:t>
            </a:r>
          </a:p>
        </p:txBody>
      </p:sp>
      <p:sp>
        <p:nvSpPr>
          <p:cNvPr id="3042" name="Step 3042"/>
          <p:cNvSpPr/>
          <p:nvPr/>
        </p:nvSpPr>
        <p:spPr>
          <a:xfrm>
            <a:off x="2834640" y="2651760"/>
            <a:ext cx="1700784" cy="777240"/>
          </a:xfrm>
          <a:prstGeom prst="chevron">
            <a:avLst>
              <a:gd name="adj" fmla="val 30000"/>
            </a:avLst>
          </a:prstGeom>
          <a:solidFill>
            <a:srgbClr val="A6DDE4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Gap review</a:t>
            </a:r>
          </a:p>
        </p:txBody>
      </p:sp>
      <p:sp>
        <p:nvSpPr>
          <p:cNvPr id="3043" name="Step text 3043"/>
          <p:cNvSpPr txBox="1"/>
          <p:nvPr/>
        </p:nvSpPr>
        <p:spPr>
          <a:xfrm>
            <a:off x="3017520" y="3566160"/>
            <a:ext cx="1289304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IT answers Canada’s questions</a:t>
            </a:r>
          </a:p>
        </p:txBody>
      </p:sp>
      <p:sp>
        <p:nvSpPr>
          <p:cNvPr id="3044" name="Step 3044"/>
          <p:cNvSpPr/>
          <p:nvPr/>
        </p:nvSpPr>
        <p:spPr>
          <a:xfrm>
            <a:off x="4434840" y="2651760"/>
            <a:ext cx="1700784" cy="77724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DB7C9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Canada KPI catalogue</a:t>
            </a:r>
          </a:p>
        </p:txBody>
      </p:sp>
      <p:sp>
        <p:nvSpPr>
          <p:cNvPr id="3045" name="Step text 3045"/>
          <p:cNvSpPr txBox="1"/>
          <p:nvPr/>
        </p:nvSpPr>
        <p:spPr>
          <a:xfrm>
            <a:off x="4617720" y="3566160"/>
            <a:ext cx="1289304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Our definitions agreed</a:t>
            </a:r>
          </a:p>
        </p:txBody>
      </p:sp>
      <p:sp>
        <p:nvSpPr>
          <p:cNvPr id="3046" name="Step 3046"/>
          <p:cNvSpPr/>
          <p:nvPr/>
        </p:nvSpPr>
        <p:spPr>
          <a:xfrm>
            <a:off x="6035040" y="2651760"/>
            <a:ext cx="1700784" cy="77724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DB7C9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IT builds</a:t>
            </a:r>
          </a:p>
        </p:txBody>
      </p:sp>
      <p:sp>
        <p:nvSpPr>
          <p:cNvPr id="3047" name="Step text 3047"/>
          <p:cNvSpPr txBox="1"/>
          <p:nvPr/>
        </p:nvSpPr>
        <p:spPr>
          <a:xfrm>
            <a:off x="6217920" y="3566160"/>
            <a:ext cx="1289304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Canada needs added</a:t>
            </a:r>
          </a:p>
        </p:txBody>
      </p:sp>
      <p:sp>
        <p:nvSpPr>
          <p:cNvPr id="3048" name="Step 3048"/>
          <p:cNvSpPr/>
          <p:nvPr/>
        </p:nvSpPr>
        <p:spPr>
          <a:xfrm>
            <a:off x="7635240" y="2651760"/>
            <a:ext cx="1700784" cy="77724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DB7C9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Reports move</a:t>
            </a:r>
          </a:p>
        </p:txBody>
      </p:sp>
      <p:sp>
        <p:nvSpPr>
          <p:cNvPr id="3049" name="Step text 3049"/>
          <p:cNvSpPr txBox="1"/>
          <p:nvPr/>
        </p:nvSpPr>
        <p:spPr>
          <a:xfrm>
            <a:off x="7818120" y="3566160"/>
            <a:ext cx="1289304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Old and new side by side, then switch</a:t>
            </a:r>
          </a:p>
        </p:txBody>
      </p:sp>
      <p:sp>
        <p:nvSpPr>
          <p:cNvPr id="3050" name="Step 3050"/>
          <p:cNvSpPr/>
          <p:nvPr/>
        </p:nvSpPr>
        <p:spPr>
          <a:xfrm>
            <a:off x="9235440" y="2651760"/>
            <a:ext cx="1700784" cy="77724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DB7C9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Old tables off</a:t>
            </a:r>
          </a:p>
        </p:txBody>
      </p:sp>
      <p:sp>
        <p:nvSpPr>
          <p:cNvPr id="3051" name="Step text 3051"/>
          <p:cNvSpPr txBox="1"/>
          <p:nvPr/>
        </p:nvSpPr>
        <p:spPr>
          <a:xfrm>
            <a:off x="9418320" y="3566160"/>
            <a:ext cx="1289304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Legacy CRM tables retired</a:t>
            </a:r>
          </a:p>
        </p:txBody>
      </p:sp>
      <p:sp>
        <p:nvSpPr>
          <p:cNvPr id="3052" name="Dates note 3052"/>
          <p:cNvSpPr/>
          <p:nvPr/>
        </p:nvSpPr>
        <p:spPr>
          <a:xfrm>
            <a:off x="1234440" y="4526280"/>
            <a:ext cx="972373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Dates to be confirmed by IT. </a:t>
            </a:r>
            <a:r>
              <a:rPr lang="en-US" sz="14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We will share them as soon as we have them.</a:t>
            </a:r>
          </a:p>
        </p:txBody>
      </p:sp>
    </p:spTree>
    <p:extLst>
      <p:ext uri="{BB962C8B-B14F-4D97-AF65-F5344CB8AC3E}">
        <p14:creationId xmlns:p14="http://schemas.microsoft.com/office/powerpoint/2010/main" val="203551665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1158-68C1-466D-EBC8-0376BB4C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70E62302-45F3-3587-7D71-0A30F8B7AC9B}"/>
              </a:ext>
            </a:extLst>
          </p:cNvPr>
          <p:cNvSpPr txBox="1"/>
          <p:nvPr/>
        </p:nvSpPr>
        <p:spPr>
          <a:xfrm>
            <a:off x="471890" y="310170"/>
            <a:ext cx="11232686" cy="390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lang="fr-FR" sz="2450" spc="-123">
                <a:solidFill>
                  <a:srgbClr val="7030A0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/</a:t>
            </a:r>
            <a:r>
              <a:rPr lang="fr-FR" sz="2450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lang="fr-CA" sz="2450" b="1" spc="-123">
                <a:solidFill>
                  <a:schemeClr val="tx1"/>
                </a:solidFill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ELEVATE</a:t>
            </a:r>
            <a:endParaRPr sz="2450" b="1" i="1" cap="all" spc="-123">
              <a:solidFill>
                <a:schemeClr val="tx1"/>
              </a:solidFill>
              <a:latin typeface="LOREAL Essentielle Black" pitchFamily="2" charset="77"/>
              <a:ea typeface="LOREAL Essentielle"/>
              <a:cs typeface="LOREAL Essentielle"/>
              <a:sym typeface="LOREAL Essentielle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1E4C314-7095-6109-F823-F07E8D73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74" y="6383148"/>
            <a:ext cx="1383111" cy="385344"/>
          </a:xfrm>
          <a:prstGeom prst="rect">
            <a:avLst/>
          </a:prstGeom>
        </p:spPr>
      </p:pic>
      <p:pic>
        <p:nvPicPr>
          <p:cNvPr id="56" name="imageSelected0">
            <a:extLst>
              <a:ext uri="{FF2B5EF4-FFF2-40B4-BE49-F238E27FC236}">
                <a16:creationId xmlns:a16="http://schemas.microsoft.com/office/drawing/2014/main" id="{FA4C6BF0-A274-91C3-5EC7-B9C7587AA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199" y="229206"/>
            <a:ext cx="1255792" cy="55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68B1823-3A02-C6B9-42C2-11BD792AC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67" y="120831"/>
            <a:ext cx="2778432" cy="769297"/>
          </a:xfrm>
          <a:prstGeom prst="rect">
            <a:avLst/>
          </a:prstGeom>
        </p:spPr>
      </p:pic>
      <p:sp>
        <p:nvSpPr>
          <p:cNvPr id="3053" name="Container 3053"/>
          <p:cNvSpPr/>
          <p:nvPr/>
        </p:nvSpPr>
        <p:spPr>
          <a:xfrm>
            <a:off x="981151" y="1046988"/>
            <a:ext cx="10203790" cy="5168189"/>
          </a:xfrm>
          <a:prstGeom prst="roundRect">
            <a:avLst>
              <a:gd name="adj" fmla="val 4336"/>
            </a:avLst>
          </a:prstGeom>
          <a:solidFill>
            <a:srgbClr val="CCECFF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54" name="Panel 3054"/>
          <p:cNvSpPr/>
          <p:nvPr/>
        </p:nvSpPr>
        <p:spPr>
          <a:xfrm>
            <a:off x="1234440" y="1261872"/>
            <a:ext cx="9723730" cy="841248"/>
          </a:xfrm>
          <a:prstGeom prst="roundRect">
            <a:avLst>
              <a:gd name="adj" fmla="val 10000"/>
            </a:avLst>
          </a:prstGeom>
          <a:solidFill>
            <a:srgbClr val="005180"/>
          </a:solidFill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55" name="Title 3055"/>
          <p:cNvSpPr txBox="1"/>
          <p:nvPr/>
        </p:nvSpPr>
        <p:spPr>
          <a:xfrm>
            <a:off x="1481328" y="1298448"/>
            <a:ext cx="9235440" cy="7680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3 · NEXT STEPS · HOW YOU GET INVOLVED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Three ways you can help</a:t>
            </a:r>
          </a:p>
        </p:txBody>
      </p:sp>
      <p:sp>
        <p:nvSpPr>
          <p:cNvPr id="3056" name="Ask 3056"/>
          <p:cNvSpPr/>
          <p:nvPr/>
        </p:nvSpPr>
        <p:spPr>
          <a:xfrm>
            <a:off x="1234440" y="2395728"/>
            <a:ext cx="305836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57" name="Step number 3057"/>
          <p:cNvSpPr/>
          <p:nvPr/>
        </p:nvSpPr>
        <p:spPr>
          <a:xfrm>
            <a:off x="1463040" y="2578608"/>
            <a:ext cx="548640" cy="548640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1</a:t>
            </a:r>
          </a:p>
        </p:txBody>
      </p:sp>
      <p:sp>
        <p:nvSpPr>
          <p:cNvPr id="3058" name="Ask text 3058"/>
          <p:cNvSpPr txBox="1"/>
          <p:nvPr/>
        </p:nvSpPr>
        <p:spPr>
          <a:xfrm>
            <a:off x="1463040" y="3246120"/>
            <a:ext cx="2601163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Name what you can’t live without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The KPIs, fields and filters you use every week, so we make sure they are in.</a:t>
            </a:r>
          </a:p>
        </p:txBody>
      </p:sp>
      <p:sp>
        <p:nvSpPr>
          <p:cNvPr id="3059" name="Ask 3059"/>
          <p:cNvSpPr/>
          <p:nvPr/>
        </p:nvSpPr>
        <p:spPr>
          <a:xfrm>
            <a:off x="4567123" y="2395728"/>
            <a:ext cx="305836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60" name="Step number 3060"/>
          <p:cNvSpPr/>
          <p:nvPr/>
        </p:nvSpPr>
        <p:spPr>
          <a:xfrm>
            <a:off x="4795723" y="2578608"/>
            <a:ext cx="548640" cy="548640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2</a:t>
            </a:r>
          </a:p>
        </p:txBody>
      </p:sp>
      <p:sp>
        <p:nvSpPr>
          <p:cNvPr id="3061" name="Ask text 3061"/>
          <p:cNvSpPr txBox="1"/>
          <p:nvPr/>
        </p:nvSpPr>
        <p:spPr>
          <a:xfrm>
            <a:off x="4795723" y="3246120"/>
            <a:ext cx="2601163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Share your hidden rules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Any cleaning, mapping or exclusion you apply in a query. IT will build it upstream.</a:t>
            </a:r>
          </a:p>
        </p:txBody>
      </p:sp>
      <p:sp>
        <p:nvSpPr>
          <p:cNvPr id="3062" name="Ask 3062"/>
          <p:cNvSpPr/>
          <p:nvPr/>
        </p:nvSpPr>
        <p:spPr>
          <a:xfrm>
            <a:off x="7899806" y="2395728"/>
            <a:ext cx="305836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2700000" algn="tl" rotWithShape="0">
              <a:prstClr val="black">
                <a:alpha val="25000"/>
              </a:prstClr>
            </a:outerShdw>
          </a:effectLst>
        </p:spPr>
        <p:txBody>
          <a:bodyPr wrap="square" lIns="18288" tIns="18288" rIns="18288" bIns="18288" rtlCol="0" anchor="t">
            <a:noAutofit/>
          </a:bodyPr>
          <a:lstStyle/>
          <a:p>
            <a:endParaRPr lang="en-US"/>
          </a:p>
        </p:txBody>
      </p:sp>
      <p:sp>
        <p:nvSpPr>
          <p:cNvPr id="3063" name="Step number 3063"/>
          <p:cNvSpPr/>
          <p:nvPr/>
        </p:nvSpPr>
        <p:spPr>
          <a:xfrm>
            <a:off x="8128406" y="2578608"/>
            <a:ext cx="548640" cy="548640"/>
          </a:xfrm>
          <a:prstGeom prst="ellipse">
            <a:avLst/>
          </a:prstGeom>
          <a:solidFill>
            <a:srgbClr val="41BCC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3</a:t>
            </a:r>
          </a:p>
        </p:txBody>
      </p:sp>
      <p:sp>
        <p:nvSpPr>
          <p:cNvPr id="3064" name="Ask text 3064"/>
          <p:cNvSpPr txBox="1"/>
          <p:nvPr/>
        </p:nvSpPr>
        <p:spPr>
          <a:xfrm>
            <a:off x="8128406" y="3246120"/>
            <a:ext cx="2601163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005180"/>
                </a:solidFill>
                <a:latin typeface="Calibri"/>
                <a:cs typeface="Calibri"/>
              </a:rPr>
              <a:t xml:space="preserve">List what you own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2A37"/>
                </a:solidFill>
                <a:latin typeface="Calibri"/>
                <a:cs typeface="Calibri"/>
              </a:rPr>
              <a:t xml:space="preserve">Every report, export or notebook you run on the old tables, so nothing is left behind.</a:t>
            </a:r>
          </a:p>
        </p:txBody>
      </p:sp>
      <p:sp>
        <p:nvSpPr>
          <p:cNvPr id="3065" name="Owners 3065"/>
          <p:cNvSpPr/>
          <p:nvPr/>
        </p:nvSpPr>
        <p:spPr>
          <a:xfrm>
            <a:off x="1234440" y="4956048"/>
            <a:ext cx="9723730" cy="914400"/>
          </a:xfrm>
          <a:prstGeom prst="roundRect">
            <a:avLst>
              <a:gd name="adj" fmla="val 12000"/>
            </a:avLst>
          </a:prstGeom>
          <a:solidFill>
            <a:srgbClr val="005180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Next actions: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Bastien runs weekly follow-ups with IT · data teams finish their field lists · IT shares the delivery timeline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41BCCA"/>
                </a:solidFill>
                <a:latin typeface="Calibri"/>
                <a:cs typeface="Calibri"/>
              </a:rPr>
              <a:t xml:space="preserve">Questions: </a:t>
            </a: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Bastien Duthu and Mezyan Yousfi</a:t>
            </a:r>
          </a:p>
        </p:txBody>
      </p:sp>
    </p:spTree>
    <p:extLst>
      <p:ext uri="{BB962C8B-B14F-4D97-AF65-F5344CB8AC3E}">
        <p14:creationId xmlns:p14="http://schemas.microsoft.com/office/powerpoint/2010/main" val="20355166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48428f-0639-4ad8-ab80-8c84fd86f454" xsi:nil="true"/>
    <lcf76f155ced4ddcb4097134ff3c332f xmlns="665cc5e5-6e65-4f2c-90bb-4d249240b4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3C72AC4C3E0247AA418FA81B950187" ma:contentTypeVersion="15" ma:contentTypeDescription="Crée un document." ma:contentTypeScope="" ma:versionID="a36be1b47802ba2a0fc442c1e8d08e0d">
  <xsd:schema xmlns:xsd="http://www.w3.org/2001/XMLSchema" xmlns:xs="http://www.w3.org/2001/XMLSchema" xmlns:p="http://schemas.microsoft.com/office/2006/metadata/properties" xmlns:ns2="665cc5e5-6e65-4f2c-90bb-4d249240b408" xmlns:ns3="0648428f-0639-4ad8-ab80-8c84fd86f454" targetNamespace="http://schemas.microsoft.com/office/2006/metadata/properties" ma:root="true" ma:fieldsID="c71de477033d507d4d4d235369ea54fe" ns2:_="" ns3:_="">
    <xsd:import namespace="665cc5e5-6e65-4f2c-90bb-4d249240b408"/>
    <xsd:import namespace="0648428f-0639-4ad8-ab80-8c84fd86f4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cc5e5-6e65-4f2c-90bb-4d249240b4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95695907-6fe8-4d6a-bae9-9d62cd25b8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8428f-0639-4ad8-ab80-8c84fd86f45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32b25e2-3d66-4222-8b91-10d4e96e8e7c}" ma:internalName="TaxCatchAll" ma:showField="CatchAllData" ma:web="0648428f-0639-4ad8-ab80-8c84fd86f4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B7B19C-9FA5-4CB0-AF5F-88279C0AF5F8}">
  <ds:schemaRefs>
    <ds:schemaRef ds:uri="0648428f-0639-4ad8-ab80-8c84fd86f454"/>
    <ds:schemaRef ds:uri="665cc5e5-6e65-4f2c-90bb-4d249240b4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C499B8-1C6C-4FA2-B3C7-E76DD55AD5EE}">
  <ds:schemaRefs>
    <ds:schemaRef ds:uri="0648428f-0639-4ad8-ab80-8c84fd86f454"/>
    <ds:schemaRef ds:uri="665cc5e5-6e65-4f2c-90bb-4d249240b4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AFB5CC5-945B-4EE1-ADC7-489147502D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Grand écran</PresentationFormat>
  <Paragraphs>22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LOREAL Essentielle Black</vt:lpstr>
      <vt:lpstr>LOREAL Essentielle Light</vt:lpstr>
      <vt:lpstr>21_BasicWhite</vt:lpstr>
      <vt:lpstr>Conception personnalisée</vt:lpstr>
      <vt:lpstr>Conception personnalisée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GUEZOU Emmanuelle</dc:creator>
  <cp:lastModifiedBy>Bastien DUTHU</cp:lastModifiedBy>
  <cp:revision>3</cp:revision>
  <dcterms:modified xsi:type="dcterms:W3CDTF">2026-10-16T13:09:49Z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21_BasicWhite:6</vt:lpwstr>
  </property>
  <property fmtid="{D5CDD505-2E9C-101B-9397-08002B2CF9AE}" pid="3" name="ClassificationContentMarkingFooterText">
    <vt:lpwstr>C1 - Internal use</vt:lpwstr>
  </property>
  <property fmtid="{D5CDD505-2E9C-101B-9397-08002B2CF9AE}" pid="4" name="MSIP_Label_f43b7177-c66c-4b22-a350-7ee86f9a1e74_Enabled">
    <vt:lpwstr>true</vt:lpwstr>
  </property>
  <property fmtid="{D5CDD505-2E9C-101B-9397-08002B2CF9AE}" pid="5" name="MSIP_Label_f43b7177-c66c-4b22-a350-7ee86f9a1e74_SetDate">
    <vt:lpwstr>2024-08-27T14:46:08Z</vt:lpwstr>
  </property>
  <property fmtid="{D5CDD505-2E9C-101B-9397-08002B2CF9AE}" pid="6" name="MSIP_Label_f43b7177-c66c-4b22-a350-7ee86f9a1e74_Method">
    <vt:lpwstr>Privileged</vt:lpwstr>
  </property>
  <property fmtid="{D5CDD505-2E9C-101B-9397-08002B2CF9AE}" pid="7" name="MSIP_Label_f43b7177-c66c-4b22-a350-7ee86f9a1e74_Name">
    <vt:lpwstr>C1_Internal use</vt:lpwstr>
  </property>
  <property fmtid="{D5CDD505-2E9C-101B-9397-08002B2CF9AE}" pid="8" name="MSIP_Label_f43b7177-c66c-4b22-a350-7ee86f9a1e74_SiteId">
    <vt:lpwstr>e4e1abd9-eac7-4a71-ab52-da5c998aa7ba</vt:lpwstr>
  </property>
  <property fmtid="{D5CDD505-2E9C-101B-9397-08002B2CF9AE}" pid="9" name="MSIP_Label_f43b7177-c66c-4b22-a350-7ee86f9a1e74_ActionId">
    <vt:lpwstr>826f3739-c8f9-40fd-98a3-c967acf8d6d2</vt:lpwstr>
  </property>
  <property fmtid="{D5CDD505-2E9C-101B-9397-08002B2CF9AE}" pid="10" name="MSIP_Label_f43b7177-c66c-4b22-a350-7ee86f9a1e74_ContentBits">
    <vt:lpwstr>2</vt:lpwstr>
  </property>
  <property fmtid="{D5CDD505-2E9C-101B-9397-08002B2CF9AE}" pid="11" name="ContentTypeId">
    <vt:lpwstr>0x010100C73C72AC4C3E0247AA418FA81B950187</vt:lpwstr>
  </property>
  <property fmtid="{D5CDD505-2E9C-101B-9397-08002B2CF9AE}" pid="12" name="MediaServiceImageTags">
    <vt:lpwstr/>
  </property>
</Properties>
</file>